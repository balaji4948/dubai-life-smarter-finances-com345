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The Youth Financial Wellbeing Dubai</a:t>
            </a:r>
          </a:p>
          <a:p>
            <a:pPr algn="ctr">
              <a:spcBef>
                <a:spcPts val="800"/>
              </a:spcBef>
              <a:defRPr sz="4600" b="1">
                <a:solidFill>
                  <a:srgbClr val="FFFFFF"/>
                </a:solidFill>
                <a:latin typeface="Montserrat"/>
              </a:defRPr>
            </a:pPr>
            <a:r>
              <a:t>Every Dirham Has A Plan</a:t>
            </a:r>
          </a:p>
          <a:p>
            <a:pPr algn="ctr">
              <a:spcBef>
                <a:spcPts val="1400"/>
              </a:spcBef>
              <a:defRPr sz="2000">
                <a:solidFill>
                  <a:srgbClr val="A7F3D0"/>
                </a:solidFill>
                <a:latin typeface="Montserrat"/>
              </a:defRPr>
            </a:pPr>
            <a:r>
              <a:t>COM345 Communication Plan</a:t>
            </a:r>
          </a:p>
          <a:p>
            <a:pPr algn="ctr">
              <a:spcBef>
                <a:spcPts val="600"/>
              </a:spcBef>
              <a:defRPr sz="1400">
                <a:solidFill>
                  <a:srgbClr val="E2F5EC"/>
                </a:solidFill>
                <a:latin typeface="Arial"/>
              </a:defRPr>
            </a:pPr>
            <a:r>
              <a:t>Campaign Message: “Dubai Life. Smarter Finances.”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5303520"/>
            <a:ext cx="7619695" cy="77724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5440680"/>
            <a:ext cx="74368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A7F3D0"/>
                </a:solidFill>
                <a:latin typeface="Montserrat"/>
              </a:defRPr>
            </a:pPr>
            <a:r>
              <a:t>PROJECT TEAM: Lareb's Part  •  Gleb's Part  •  Amaliya's Part  •  Akbar's Part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LAREB’S PART • 1. BACKGROUND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RISING COST-OF-LIVING PRESSURES IN DUBAI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73152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Macroeconomic Stressors: Young adult residents (ages 25–34) face intensifying living expenditure hurdles across Dubai.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212080" cy="1874519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47548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Housing &amp; Demographic Strain</a:t>
            </a:r>
          </a:p>
          <a:p>
            <a:pPr>
              <a:spcBef>
                <a:spcPts val="5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Sustained population influx (~470 new arrivals daily) outpaces residential completions.</a:t>
            </a:r>
            <a:br/>
            <a:r>
              <a:t>• Housing supply constraints make accommodation the dominant expense driver (The National,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240280"/>
            <a:ext cx="5212080" cy="1874519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404872"/>
            <a:ext cx="47548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Rental Hikes vs. Flat Wages</a:t>
            </a:r>
          </a:p>
          <a:p>
            <a:pPr>
              <a:spcBef>
                <a:spcPts val="5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Residential lease rates projected to climb up to 6% in 2026 (Abbas, 2025).</a:t>
            </a:r>
            <a:br/>
            <a:r>
              <a:t>• Contrasts with corporate baseline salary projections indicating flat remuneration in 2025 (ValuStrat, 2025).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212080" cy="1874519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62272"/>
            <a:ext cx="47548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Transit &amp; Mobility Expenses</a:t>
            </a:r>
          </a:p>
          <a:p>
            <a:pPr>
              <a:spcBef>
                <a:spcPts val="5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Daily commuting overheads increased markedly with dynamic traffic tariffs.</a:t>
            </a:r>
            <a:br/>
            <a:r>
              <a:t>• Salik peak-hour toll rates elevated from AED 4 to AED 6 per gate passage (Gulf Business, 2024).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4297680"/>
            <a:ext cx="5212080" cy="1874519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4462272"/>
            <a:ext cx="47548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BNPL &amp; Credit File Visibility</a:t>
            </a:r>
          </a:p>
          <a:p>
            <a:pPr>
              <a:spcBef>
                <a:spcPts val="5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Micro-financing commitments (Tabby, Tamara) are formally logged on Al Etihad Credit Bureau files.</a:t>
            </a:r>
            <a:br/>
            <a:r>
              <a:t>• Everyday installment debt directly influences future bank lending and rental approvals (Gulf News,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LAREB’S PART • 1. BACKGROUND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THE CORE COMMUNICATION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7F3D0"/>
                </a:solidFill>
                <a:latin typeface="Montserrat"/>
              </a:defRPr>
            </a:pPr>
            <a:r>
              <a:t>AWARENESS DEFICIT ON CIVIC TOOLS</a:t>
            </a:r>
          </a:p>
          <a:p>
            <a:pPr>
              <a:spcBef>
                <a:spcPts val="1200"/>
              </a:spcBef>
              <a:defRPr sz="1200">
                <a:solidFill>
                  <a:srgbClr val="E2F5EC"/>
                </a:solidFill>
                <a:latin typeface="Arial"/>
              </a:defRPr>
            </a:pPr>
            <a:r>
              <a:t>• Comprehensive municipal mechanisms already exist to protect consumers.</a:t>
            </a:r>
            <a:br/>
            <a:br/>
            <a:r>
              <a:t>• Key assets include the Dubai Land Department (DLD) Rental Calculator/Index and Al Etihad Credit Bureau (AECB) personal credit files.</a:t>
            </a:r>
            <a:br/>
            <a:br/>
            <a:r>
              <a:t>• Critical Bottleneck: Widespread unawareness among young professionals leaves these vital protections underutilized.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7F3D0"/>
                </a:solidFill>
                <a:latin typeface="Montserrat"/>
              </a:defRPr>
            </a:pPr>
            <a:r>
              <a:t>SOCIAL MEDIA &amp; REGULATORY SHIFT</a:t>
            </a:r>
          </a:p>
          <a:p>
            <a:pPr>
              <a:spcBef>
                <a:spcPts val="1200"/>
              </a:spcBef>
              <a:defRPr sz="1200">
                <a:solidFill>
                  <a:srgbClr val="E2F5EC"/>
                </a:solidFill>
                <a:latin typeface="Arial"/>
              </a:defRPr>
            </a:pPr>
            <a:r>
              <a:t>• Digital Exposure: Youth heavily consult informal social networks where lifestyle inflation and unvetted guidance proliferate.</a:t>
            </a:r>
            <a:br/>
            <a:br/>
            <a:r>
              <a:t>• Systemic Risk: Impulse spending and unchecked debt cycles are accelerated by aspirational online feeds.</a:t>
            </a:r>
            <a:br/>
            <a:br/>
            <a:r>
              <a:t>• National Countermeasure: The UAE mandated formal licensing for financial influencers ('finfluencers') to mitigate unverified advice (Issa, 2025).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LAREB’S PART • 2. PROBLEMS AND OPPORTUNITIES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PROBLEM AND OPPORTUNITY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THE CORE PROBLEM</a:t>
            </a:r>
          </a:p>
          <a:p>
            <a:pPr>
              <a:spcBef>
                <a:spcPts val="1200"/>
              </a:spcBef>
              <a:defRPr sz="1150">
                <a:solidFill>
                  <a:srgbClr val="E2F5EC"/>
                </a:solidFill>
                <a:latin typeface="Arial"/>
              </a:defRPr>
            </a:pPr>
            <a:r>
              <a:t>• Inflationary Friction: Young residents in Dubai navigate steep living expenses without accessible, trustworthy financial playbooks.</a:t>
            </a:r>
            <a:br/>
            <a:br/>
            <a:r>
              <a:t>• Informational Disconnect: Institutional consumer advisory services exist in abundance, yet public awareness remains critically low.</a:t>
            </a:r>
            <a:br/>
            <a:br/>
            <a:r>
              <a:t>• Algorithmic Distortions: Digital platforms promote conspicuous consumption and unverified personal finance advice, amplifying financial stress.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THE STRATEGIC OPPORTUNITY</a:t>
            </a:r>
          </a:p>
          <a:p>
            <a:pPr>
              <a:spcBef>
                <a:spcPts val="1200"/>
              </a:spcBef>
              <a:defRPr sz="1150">
                <a:solidFill>
                  <a:srgbClr val="E2F5EC"/>
                </a:solidFill>
                <a:latin typeface="Arial"/>
              </a:defRPr>
            </a:pPr>
            <a:r>
              <a:t>• Timely Intervention: YFWD has a proactive window to intervene before localized financial pressure cascades into wider social insolvency.</a:t>
            </a:r>
            <a:br/>
            <a:br/>
            <a:r>
              <a:t>• Trusted Institutional Positioning: Operating as an impartial entity, YFWD can establish authority across channels youth already frequent.</a:t>
            </a:r>
            <a:br/>
            <a:br/>
            <a:r>
              <a:t>• Triple Impact: Simultaneously promote structured budgeting, long-term asset building, and seamless navigation of verified civic support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GLEB’S PART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TARGET PUBLICS &amp; CORE MESSAGE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STAKEHOLDER SEGMENTATION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Primary Public (Direct Audience):</a:t>
            </a:r>
          </a:p>
          <a:p>
            <a:pPr>
              <a:spcBef>
                <a:spcPts val="400"/>
              </a:spcBef>
              <a:defRPr sz="1150">
                <a:solidFill>
                  <a:srgbClr val="E2F5EC"/>
                </a:solidFill>
                <a:latin typeface="Arial"/>
              </a:defRPr>
            </a:pPr>
            <a:r>
              <a:t>• Dubai residents aged 25–34</a:t>
            </a:r>
            <a:br/>
            <a:r>
              <a:t>• Key Sub-cohorts: Early-career professionals, recent university graduates, and independent residential renters.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Secondary Publics (Amplification Partners):</a:t>
            </a:r>
          </a:p>
          <a:p>
            <a:pPr>
              <a:spcBef>
                <a:spcPts val="400"/>
              </a:spcBef>
              <a:defRPr sz="1150">
                <a:solidFill>
                  <a:srgbClr val="E2F5EC"/>
                </a:solidFill>
                <a:latin typeface="Arial"/>
              </a:defRPr>
            </a:pPr>
            <a:r>
              <a:t>• Universities &amp; academic faculties</a:t>
            </a:r>
            <a:br/>
            <a:r>
              <a:t>• Corporate employers &amp; HR networks</a:t>
            </a:r>
            <a:br/>
            <a:r>
              <a:t>• Retail banks &amp; financial institutions</a:t>
            </a:r>
            <a:br/>
            <a:r>
              <a:t>• Real estate portals &amp; discount platforms</a:t>
            </a:r>
            <a:br/>
            <a:r>
              <a:t>• Civic and community youth organizations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STRATEGIC CORE MESSAGE</a:t>
            </a:r>
          </a:p>
          <a:p>
            <a:pPr>
              <a:spcBef>
                <a:spcPts val="20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“Dubai Life. Smarter Finances.”</a:t>
            </a:r>
          </a:p>
          <a:p>
            <a:pPr>
              <a:spcBef>
                <a:spcPts val="1400"/>
              </a:spcBef>
              <a:defRPr sz="1200">
                <a:solidFill>
                  <a:srgbClr val="E2F5EC"/>
                </a:solidFill>
                <a:latin typeface="Arial"/>
              </a:defRPr>
            </a:pPr>
            <a:r>
              <a:t>Core Narrative:</a:t>
            </a:r>
            <a:br/>
            <a:r>
              <a:t>Empowering emerging young adults to navigate Dubai’s urban cost landscape through data-driven budgeting methodologies, practical lifestyle planning, and direct linkage to vetted institutional cost-saving mechanisms.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GLEB’S PART • STRATEGY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EDUCATE - EQUIP - CONNECT STRATEGIC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01. EDUCATE</a:t>
            </a:r>
          </a:p>
          <a:p>
            <a:pPr>
              <a:spcBef>
                <a:spcPts val="12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Digital Financial Curriculum: Social media series breaking down rent indices, utility planning, and commute budgeting.</a:t>
            </a:r>
            <a:br/>
            <a:br/>
            <a:r>
              <a:t>• Interactive In-Person Workshops: Practical financial seminars covering baseline accounting and emergency buffer creation.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02. EQUIP</a:t>
            </a:r>
          </a:p>
          <a:p>
            <a:pPr>
              <a:spcBef>
                <a:spcPts val="12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Digital Financial Toolkits: Free budget-planning templates, customizable spreadsheets, and savings projection tools.</a:t>
            </a:r>
            <a:br/>
            <a:br/>
            <a:r>
              <a:t>• Practical Resource Guides: Actionable checklists detailing rental index rights, credit scoring mechanics, and daily savings.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  <a:latin typeface="Montserrat"/>
              </a:defRPr>
            </a:pPr>
            <a:r>
              <a:t>03. CONNECT</a:t>
            </a:r>
          </a:p>
          <a:p>
            <a:pPr>
              <a:spcBef>
                <a:spcPts val="12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Institutional Alliances: Partnerships across retail banking, leasing platforms, and community discount programs (e.g., Fazaa).</a:t>
            </a:r>
            <a:br/>
            <a:br/>
            <a:r>
              <a:t>• Zywa Educational Alignment: Leverage Zywa's money-management app and prepaid-card interface to cultivate disciplined spending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GLEB’S PART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MONTHLY SAVINGS SIMULATION (AED 6,000 BUDGET)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BUDGET REALLOCATION MODEL &amp; POTENTIAL CAPITAL RECOVERY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  <a:latin typeface="Arial"/>
              </a:defRPr>
            </a:pPr>
            <a:r>
              <a:t>• Strategic Lifestyle Adjustments: Disciplined meal planning, public transit route substitution, curbed on-demand food delivery, and cancellation of dormant digital subscriptions yield AED 460 in monthly recurring cost reclamation.</a:t>
            </a:r>
          </a:p>
          <a:p>
            <a:pPr>
              <a:spcBef>
                <a:spcPts val="1800"/>
              </a:spcBef>
              <a:defRPr sz="1900" b="1">
                <a:solidFill>
                  <a:srgbClr val="FDE68A"/>
                </a:solidFill>
                <a:latin typeface="Montserrat"/>
              </a:defRPr>
            </a:pPr>
            <a:r>
              <a:t>Baseline AED 6,000 Monthly Budget: Net Monthly Savings Expand From AED 500 to AED 960 (+92%)</a:t>
            </a:r>
          </a:p>
          <a:p>
            <a:pPr>
              <a:spcBef>
                <a:spcPts val="1600"/>
              </a:spcBef>
              <a:defRPr sz="1100">
                <a:solidFill>
                  <a:srgbClr val="8CC3AA"/>
                </a:solidFill>
                <a:latin typeface="Arial"/>
              </a:defRPr>
            </a:pPr>
            <a:r>
              <a:t>• Annual Impact: Over 12 months, this reallocation preserves AED 5,520 in additional liquidity without expanding base income.</a:t>
            </a:r>
            <a:br/>
            <a:r>
              <a:t>• Academic Disclosure: Illustrative educational scenario; individual savings depend on personal consumption habits and do not reflect guaranteed financial card yields.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AMALIYA’S PART • CHANNELS AND TACTICS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EDUCATE - EQUIP - CONNECT OPERATIONAL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EDUCATE (AWARENESS)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Bi-Weekly Digital Dissemination: Release two weekly educational posts/reels across Instagram and TikTok addressing rent calculators, commute planning, and saving tips.</a:t>
            </a:r>
            <a:br/>
            <a:br/>
            <a:r>
              <a:t>• Practical Seminar Series: Host 6 interactive workshops facilitated across university campuses, corporate workplaces, and community hubs.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EQUIP (TOOL DELIVERY)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Digital Campaign Portal: Centralized hub hosting interactive budget worksheets, expense calculators, and downloadable guides.</a:t>
            </a:r>
            <a:br/>
            <a:br/>
            <a:r>
              <a:t>• Physical-to-Digital Funnels: QR code displays in high-traffic youth hubs and partner e-newsletters.</a:t>
            </a:r>
            <a:br/>
            <a:br/>
            <a:r>
              <a:t>• 30-Day Budget Challenge: Gamified tracking habit driving structured savings 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CONNECT (ALLIANCES)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Zywa Youth Banking Alliance: Educational alignment utilizing mobile app budgeting controls and prepaid spending guardrails.</a:t>
            </a:r>
            <a:br/>
            <a:br/>
            <a:r>
              <a:t>• Corporate &amp; Merchant Affiliations: Establish cost-reduction partnerships with banks, property agencies, dining outlets, and Fazaa discount networks with clear eligibility disclosures.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AMALIYA’S PART • BUDGET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12-MONTH ALLOCATION &amp; COST GOVERNANCE (AED 50,000)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5577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</a:tblGrid>
              <a:tr h="39069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7F3D0"/>
                          </a:solidFill>
                          <a:latin typeface="Montserrat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E3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A7F3D0"/>
                          </a:solidFill>
                          <a:latin typeface="Montserrat"/>
                        </a:defRPr>
                      </a:pPr>
                      <a:r>
                        <a:t>AED</a:t>
                      </a:r>
                    </a:p>
                  </a:txBody>
                  <a:tcPr>
                    <a:solidFill>
                      <a:srgbClr val="0E382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Research and evaluation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Educational content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Social media advertising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Campaign webpage tools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Six workshops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Creator collaborations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Printing and QR posters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Partner coordination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Contingency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F5EC"/>
                          </a:solidFill>
                          <a:latin typeface="Arial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DE68A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DE68A"/>
                          </a:solidFill>
                          <a:latin typeface="Arial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09261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0" y="1371600"/>
            <a:ext cx="4602175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053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FISCAL GOVERNANCE &amp; CONTROL</a:t>
            </a:r>
          </a:p>
          <a:p>
            <a:pPr>
              <a:spcBef>
                <a:spcPts val="12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In-Kind Venue &amp; Speaker Sourcing: Secure complimentary university lecture halls, voluntary industry speakers, and unpaid institutional distribution networks.</a:t>
            </a:r>
          </a:p>
          <a:p>
            <a:pPr>
              <a:spcBef>
                <a:spcPts val="12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Internal Resource Optimization: Utilize existing YFWD personnel and reusable display materials to minimize agency and overhead costs.</a:t>
            </a:r>
          </a:p>
          <a:p>
            <a:pPr>
              <a:spcBef>
                <a:spcPts val="12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Pre-Commitment Pricing Audits: Validate vendor bids prior to fund disbursement and execute comprehensive monthly budget variance reviews.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AKBAR’S PART • 3. OBJECTIVES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SMART CAMPAIGN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59436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F5EC"/>
                </a:solidFill>
                <a:latin typeface="Arial"/>
              </a:defRPr>
            </a:pPr>
            <a:r>
              <a:t>Strategic Alignment: The campaign formalizes three SMART targets mapped directly to Educate, Equip, and Connect: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401568" cy="40690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443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F3D0"/>
                </a:solidFill>
                <a:latin typeface="Montserrat"/>
              </a:defRPr>
            </a:pPr>
            <a:r>
              <a:t>Objective 1 (Awareness / Educate):</a:t>
            </a:r>
          </a:p>
          <a:p>
            <a:pPr>
              <a:spcBef>
                <a:spcPts val="8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Increase financial literacy and YFWD resource awareness among Dubai residents aged 25–34.</a:t>
            </a:r>
            <a:br/>
            <a:r>
              <a:t>• Key Metric: Achieve 150,000 total digital impressions and maintain a 4% average engagement rate across Instagram and TikTok within 6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01568" cy="40690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9443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F3D0"/>
                </a:solidFill>
                <a:latin typeface="Montserrat"/>
              </a:defRPr>
            </a:pPr>
            <a:r>
              <a:t>Objective 2 (Behavioral Adoption / Equip):</a:t>
            </a:r>
          </a:p>
          <a:p>
            <a:pPr>
              <a:spcBef>
                <a:spcPts val="8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Drive tangible utilization of practical personal finance resources.</a:t>
            </a:r>
            <a:br/>
            <a:r>
              <a:t>• Key Metric: Generate 5,000 downloads/active uses of the digital budget planner and enroll 1,000 young professionals in the "30-Day Budget Challenge" within 12 months.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57400"/>
            <a:ext cx="3401568" cy="40690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29443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F3D0"/>
                </a:solidFill>
                <a:latin typeface="Montserrat"/>
              </a:defRPr>
            </a:pPr>
            <a:r>
              <a:t>Objective 3 (Partnership / Connect):</a:t>
            </a:r>
          </a:p>
          <a:p>
            <a:pPr>
              <a:spcBef>
                <a:spcPts val="8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Facilitate community engagement and institutional cost-saving access.</a:t>
            </a:r>
            <a:br/>
            <a:r>
              <a:t>• Key Metric: Engage 300+ total attendees across six interactive seminars and establish at least 4 active cost-reduction partnerships (Zywa, Fazaa, rental/lifestyle platforms) by Month 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AKBAR’S PART • 10. EVALUATION AND MODIFICATIONS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PHASE 1: FORMATIVE BASELINE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77724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F5EC"/>
                </a:solidFill>
                <a:latin typeface="Arial"/>
              </a:defRPr>
            </a:pPr>
            <a:r>
              <a:t>Tri-Phasic Evaluation Architecture: Formative (Baseline Research), Process (Ongoing Optimization), and Summative (Final Outcome Audit) to guarantee maximal ROI across the AED 50,000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12080" cy="38404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Desktop Research &amp; Social Listening:</a:t>
            </a:r>
          </a:p>
          <a:p>
            <a:pPr>
              <a:spcBef>
                <a:spcPts val="1000"/>
              </a:spcBef>
              <a:defRPr sz="1150">
                <a:solidFill>
                  <a:srgbClr val="E2F5EC"/>
                </a:solidFill>
                <a:latin typeface="Arial"/>
              </a:defRPr>
            </a:pPr>
            <a:r>
              <a:t>• Environmental Horizon Scanning: Track digital conversations, hashtags, and social sentiment regarding Dubai living expenses among demographics aged 25–34 prior to campaign launch.</a:t>
            </a:r>
            <a:br/>
            <a:br/>
            <a:r>
              <a:t>• Content Gap Analysis: Identify dominant spending concerns (rent, food delivery, transit) to tailor educational assets.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286000"/>
            <a:ext cx="5212080" cy="38404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25603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Pre-Campaign Baseline Survey:</a:t>
            </a:r>
          </a:p>
          <a:p>
            <a:pPr>
              <a:spcBef>
                <a:spcPts val="1000"/>
              </a:spcBef>
              <a:defRPr sz="1150">
                <a:solidFill>
                  <a:srgbClr val="E2F5EC"/>
                </a:solidFill>
                <a:latin typeface="Arial"/>
              </a:defRPr>
            </a:pPr>
            <a:r>
              <a:t>• Diagnostic Measurement: Deploy a targeted digital survey via university and employer channels.</a:t>
            </a:r>
            <a:br/>
            <a:br/>
            <a:r>
              <a:t>• Benchmark Key Indices: Establish initial benchmarks on awareness of YFWD resources, discretionary spending breakdowns, and primary acute financial pressure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AKBAR’S PART • 10. EVALUATION AND MODIFICATIONS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PHASE 2: PROCESS EVALUATION &amp; ADAPTIVE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Monthly Social Analytics: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Continuous Metric Audits: Monitor reach, engagement, click-through rates, and audience growth on Instagram and TikTok.</a:t>
            </a:r>
            <a:br/>
            <a:r>
              <a:t>• Adaptive Repositioning: If engagement falls below 4%, pivot resources toward higher-performing short-form video reels, creator tie-ins, or interactive Q&amp;A polls.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Webpage &amp; Funnel Telemetry: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Traffic Diagnostics: Use Google Analytics to log unique portal visits, QR poster attribution, and toolkit download completions.</a:t>
            </a:r>
            <a:br/>
            <a:r>
              <a:t>• Behavioral Drop-Off: Track milestone completion rates across the 30-Day Budget Challenge to refine user retention.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Mid-Campaign Review (Month 6):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Milestone Diagnostic: Audit attendance records and qualitative feedback surveys from initial workshops.</a:t>
            </a:r>
            <a:br/>
            <a:r>
              <a:t>• Tactical Reallocation: Reassign unspent portions of the AED 3,000 contingency reserve to high-performing digital channels requiring promotional boosts.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AKBAR’S PART • 10. EVALUATION AND MODIFICATIONS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PHASE 3: SUMMATIVE EVALUATION &amp; FUTURE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Post-Campaign Impact Survey: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Longitudinal Verification: Re-issue the digital survey at Month 12 to assess measurable shifts in financial literacy, self-reported savings discipline, and perception of YFWD as a trusted institutional mentor.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SMART Objective Audit: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Awareness: Total impressions achieved vs. 150,000 target.</a:t>
            </a:r>
            <a:br/>
            <a:r>
              <a:t>• Behavioral Equip: Total budget tool downloads (Target: 5,000) and 30-Day Challenge participants (Target: 1,000).</a:t>
            </a:r>
            <a:br/>
            <a:r>
              <a:t>• Connect: Workshop attendance (Target: 300) and signed partnership activations (Target: 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01568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44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  <a:latin typeface="Montserrat"/>
              </a:defRPr>
            </a:pPr>
            <a:r>
              <a:t>ROI &amp; Long-Term Scalability:</a:t>
            </a:r>
          </a:p>
          <a:p>
            <a:pPr>
              <a:spcBef>
                <a:spcPts val="1000"/>
              </a:spcBef>
              <a:defRPr sz="1050">
                <a:solidFill>
                  <a:srgbClr val="E2F5EC"/>
                </a:solidFill>
                <a:latin typeface="Arial"/>
              </a:defRPr>
            </a:pPr>
            <a:r>
              <a:t>• Fiscal Efficiency Audit: Quantify audience reach per AED disbursed.</a:t>
            </a:r>
            <a:br/>
            <a:r>
              <a:t>• Strategic Roadmap: Synthesize findings into a final governance report with recommendations for YFWD's multi-year youth financial resilience agenda.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bai_emerald_skylin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A7F3D0"/>
                </a:solidFill>
                <a:latin typeface="Montserrat"/>
              </a:defRPr>
            </a:pPr>
            <a:r>
              <a:t>ACADEMIC INTEGRITY &amp; DOCUMENTATION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ACADEMIC REFERENCES (APA 7TH EDITION)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09261B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F3D0"/>
                </a:solidFill>
                <a:latin typeface="Montserrat"/>
              </a:defRPr>
            </a:pPr>
            <a:r>
              <a:t>BIBLIOGRAPHIC DOCUMENTATION OF CITED EMPIRICAL SOURCES</a:t>
            </a:r>
          </a:p>
          <a:p>
            <a:pPr>
              <a:spcBef>
                <a:spcPts val="10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 Abbas, W. (2025, December 29). Dubai rents set to rise by up to 6% in 2026 amid growing population. Khaleej Times.</a:t>
            </a:r>
          </a:p>
          <a:p>
            <a:pPr>
              <a:spcBef>
                <a:spcPts val="10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 Gulf Business. (2024, November 28). Dubai Salik toll dynamic pricing: Peak-hour tariffs increase to AED 6. Gulf Business.</a:t>
            </a:r>
          </a:p>
          <a:p>
            <a:pPr>
              <a:spcBef>
                <a:spcPts val="10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 Gulf News. (2026, July 14). Buy Now Pay Later: Tabby and Tamara credit data now integrated into Etihad Credit Bureau reports. Gulf News.</a:t>
            </a:r>
          </a:p>
          <a:p>
            <a:pPr>
              <a:spcBef>
                <a:spcPts val="10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 Issa, T. (2025, May 19). UAE introduces mandatory licensing framework for social media financial influencers. The National.</a:t>
            </a:r>
          </a:p>
          <a:p>
            <a:pPr>
              <a:spcBef>
                <a:spcPts val="10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 The National. (2025, February 10). Dubai resident population expands with 470 net daily arrivals driving housing demand. The National News.</a:t>
            </a:r>
          </a:p>
          <a:p>
            <a:pPr>
              <a:spcBef>
                <a:spcPts val="1000"/>
              </a:spcBef>
              <a:defRPr sz="1100">
                <a:solidFill>
                  <a:srgbClr val="E2F5EC"/>
                </a:solidFill>
                <a:latin typeface="Arial"/>
              </a:defRPr>
            </a:pPr>
            <a:r>
              <a:t>•  ValuStrat Research. (2025). Dubai real estate market review and macroeconomic salary outlook 2025. ValuStrat Consulting Group.</a:t>
            </a:r>
          </a:p>
          <a:p>
            <a:pPr>
              <a:spcBef>
                <a:spcPts val="1400"/>
              </a:spcBef>
              <a:defRPr sz="1000" i="1">
                <a:solidFill>
                  <a:srgbClr val="8CC3AA"/>
                </a:solidFill>
                <a:latin typeface="Arial"/>
              </a:defRPr>
            </a:pPr>
            <a:r>
              <a:t>Note: In-text citations throughout the deck align with APA 7th Edition guidelines for academic transparency and plagiarism avoidance.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
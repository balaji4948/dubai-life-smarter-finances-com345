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371600" y="1645920"/>
            <a:ext cx="9448495" cy="3474720"/>
          </a:xfrm>
          <a:prstGeom prst="rect">
            <a:avLst/>
          </a:prstGeom>
          <a:noFill/>
        </p:spPr>
        <p:txBody>
          <a:bodyPr wrap="square" anchor="ctr">
            <a:spAutoFit/>
          </a:bodyPr>
          <a:lstStyle/>
          <a:p>
            <a:pPr algn="ctr">
              <a:defRPr sz="1600" b="1">
                <a:solidFill>
                  <a:srgbClr val="FFFFFF"/>
                </a:solidFill>
                <a:latin typeface="Montserrat"/>
              </a:defRPr>
            </a:pPr>
            <a:r>
              <a:t>The Youth Financial Wellbeing Dubai</a:t>
            </a:r>
          </a:p>
          <a:p>
            <a:pPr algn="ctr">
              <a:spcBef>
                <a:spcPts val="800"/>
              </a:spcBef>
              <a:defRPr sz="4600" b="1">
                <a:solidFill>
                  <a:srgbClr val="FFFFFF"/>
                </a:solidFill>
                <a:latin typeface="Montserrat"/>
              </a:defRPr>
            </a:pPr>
            <a:r>
              <a:t>Every Dirham Has A Plan</a:t>
            </a:r>
          </a:p>
          <a:p>
            <a:pPr algn="ctr">
              <a:spcBef>
                <a:spcPts val="1400"/>
              </a:spcBef>
              <a:defRPr sz="2000">
                <a:solidFill>
                  <a:srgbClr val="A7F3D0"/>
                </a:solidFill>
                <a:latin typeface="Montserrat"/>
              </a:defRPr>
            </a:pPr>
            <a:r>
              <a:t>COM345 Communication Plan</a:t>
            </a:r>
          </a:p>
          <a:p>
            <a:pPr algn="ctr">
              <a:spcBef>
                <a:spcPts val="600"/>
              </a:spcBef>
              <a:defRPr sz="1400">
                <a:solidFill>
                  <a:srgbClr val="E2F5EC"/>
                </a:solidFill>
                <a:latin typeface="Arial"/>
              </a:defRPr>
            </a:pPr>
            <a:r>
              <a:t>Campaign Message: “Dubai Life. Smarter Finances.”</a:t>
            </a:r>
          </a:p>
        </p:txBody>
      </p:sp>
      <p:sp>
        <p:nvSpPr>
          <p:cNvPr id="4" name="Rounded Rectangle 3"/>
          <p:cNvSpPr/>
          <p:nvPr/>
        </p:nvSpPr>
        <p:spPr>
          <a:xfrm>
            <a:off x="2286000" y="5303520"/>
            <a:ext cx="7619695" cy="77724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77440" y="5440680"/>
            <a:ext cx="7436815" cy="548640"/>
          </a:xfrm>
          <a:prstGeom prst="rect">
            <a:avLst/>
          </a:prstGeom>
          <a:noFill/>
        </p:spPr>
        <p:txBody>
          <a:bodyPr wrap="none">
            <a:spAutoFit/>
          </a:bodyPr>
          <a:lstStyle/>
          <a:p>
            <a:pPr algn="ctr">
              <a:defRPr sz="1200" b="1">
                <a:solidFill>
                  <a:srgbClr val="A7F3D0"/>
                </a:solidFill>
                <a:latin typeface="Montserrat"/>
              </a:defRPr>
            </a:pPr>
            <a:r>
              <a:t>PROJECT TEAM: Lareb's Part  •  Gleb's Part  •  Amaliya's Part  •  Akbar's Part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LAREB’S PART • 1. BACKGROUND</a:t>
            </a:r>
          </a:p>
          <a:p>
            <a:pPr>
              <a:spcBef>
                <a:spcPts val="300"/>
              </a:spcBef>
              <a:defRPr sz="2200" b="1">
                <a:solidFill>
                  <a:srgbClr val="FFFFFF"/>
                </a:solidFill>
                <a:latin typeface="Montserrat"/>
              </a:defRPr>
            </a:pPr>
            <a:r>
              <a:t>RISING COST-OF-LIVING PRESSURES IN DUBAI</a:t>
            </a:r>
          </a:p>
        </p:txBody>
      </p:sp>
      <p:sp>
        <p:nvSpPr>
          <p:cNvPr id="4" name="Rounded Rectangle 3"/>
          <p:cNvSpPr/>
          <p:nvPr/>
        </p:nvSpPr>
        <p:spPr>
          <a:xfrm>
            <a:off x="731520" y="1325880"/>
            <a:ext cx="10728655" cy="73152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10362895" cy="548640"/>
          </a:xfrm>
          <a:prstGeom prst="rect">
            <a:avLst/>
          </a:prstGeom>
          <a:noFill/>
        </p:spPr>
        <p:txBody>
          <a:bodyPr wrap="square">
            <a:spAutoFit/>
          </a:bodyPr>
          <a:lstStyle/>
          <a:p>
            <a:pPr>
              <a:defRPr sz="1400" b="1">
                <a:solidFill>
                  <a:srgbClr val="A7F3D0"/>
                </a:solidFill>
                <a:latin typeface="Montserrat"/>
              </a:defRPr>
            </a:pPr>
            <a:r>
              <a:t>Young people in Dubai aged 25 to 34 face rising cost-of-living pressures.</a:t>
            </a:r>
          </a:p>
        </p:txBody>
      </p:sp>
      <p:sp>
        <p:nvSpPr>
          <p:cNvPr id="6" name="Rounded Rectangle 5"/>
          <p:cNvSpPr/>
          <p:nvPr/>
        </p:nvSpPr>
        <p:spPr>
          <a:xfrm>
            <a:off x="731520" y="2240280"/>
            <a:ext cx="5212080" cy="1874519"/>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423160"/>
            <a:ext cx="4754880" cy="1554479"/>
          </a:xfrm>
          <a:prstGeom prst="rect">
            <a:avLst/>
          </a:prstGeom>
          <a:noFill/>
        </p:spPr>
        <p:txBody>
          <a:bodyPr wrap="square">
            <a:spAutoFit/>
          </a:bodyPr>
          <a:lstStyle/>
          <a:p>
            <a:pPr>
              <a:defRPr sz="1300" b="1">
                <a:solidFill>
                  <a:srgbClr val="FFFFFF"/>
                </a:solidFill>
                <a:latin typeface="Montserrat"/>
              </a:defRPr>
            </a:pPr>
            <a:r>
              <a:t>Housing as Main Driver</a:t>
            </a:r>
          </a:p>
          <a:p>
            <a:pPr>
              <a:spcBef>
                <a:spcPts val="600"/>
              </a:spcBef>
              <a:defRPr sz="1100">
                <a:solidFill>
                  <a:srgbClr val="E2F5EC"/>
                </a:solidFill>
                <a:latin typeface="Arial"/>
              </a:defRPr>
            </a:pPr>
            <a:r>
              <a:t>Dubai's population is growing faster than new homes are built, with around 470 new residents arriving daily (The National, 2025).</a:t>
            </a:r>
          </a:p>
        </p:txBody>
      </p:sp>
      <p:sp>
        <p:nvSpPr>
          <p:cNvPr id="8" name="Rounded Rectangle 7"/>
          <p:cNvSpPr/>
          <p:nvPr/>
        </p:nvSpPr>
        <p:spPr>
          <a:xfrm>
            <a:off x="6248095" y="2240280"/>
            <a:ext cx="5212080" cy="1874519"/>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6695" y="2423160"/>
            <a:ext cx="4754880" cy="1554479"/>
          </a:xfrm>
          <a:prstGeom prst="rect">
            <a:avLst/>
          </a:prstGeom>
          <a:noFill/>
        </p:spPr>
        <p:txBody>
          <a:bodyPr wrap="square">
            <a:spAutoFit/>
          </a:bodyPr>
          <a:lstStyle/>
          <a:p>
            <a:pPr>
              <a:defRPr sz="1300" b="1">
                <a:solidFill>
                  <a:srgbClr val="FFFFFF"/>
                </a:solidFill>
                <a:latin typeface="Montserrat"/>
              </a:defRPr>
            </a:pPr>
            <a:r>
              <a:t>Rents vs. Salaries</a:t>
            </a:r>
          </a:p>
          <a:p>
            <a:pPr>
              <a:spcBef>
                <a:spcPts val="600"/>
              </a:spcBef>
              <a:defRPr sz="1100">
                <a:solidFill>
                  <a:srgbClr val="E2F5EC"/>
                </a:solidFill>
                <a:latin typeface="Arial"/>
              </a:defRPr>
            </a:pPr>
            <a:r>
              <a:t>Rents are expected to rise by up to 6% in 2026 (Abbas, 2025), while average salaries were projected to see no increase in 2025 (ValuStrat, 2025).</a:t>
            </a:r>
          </a:p>
        </p:txBody>
      </p:sp>
      <p:sp>
        <p:nvSpPr>
          <p:cNvPr id="10" name="Rounded Rectangle 9"/>
          <p:cNvSpPr/>
          <p:nvPr/>
        </p:nvSpPr>
        <p:spPr>
          <a:xfrm>
            <a:off x="731520" y="4297680"/>
            <a:ext cx="5212080" cy="1874519"/>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480560"/>
            <a:ext cx="4754880" cy="1554479"/>
          </a:xfrm>
          <a:prstGeom prst="rect">
            <a:avLst/>
          </a:prstGeom>
          <a:noFill/>
        </p:spPr>
        <p:txBody>
          <a:bodyPr wrap="square">
            <a:spAutoFit/>
          </a:bodyPr>
          <a:lstStyle/>
          <a:p>
            <a:pPr>
              <a:defRPr sz="1300" b="1">
                <a:solidFill>
                  <a:srgbClr val="FFFFFF"/>
                </a:solidFill>
                <a:latin typeface="Montserrat"/>
              </a:defRPr>
            </a:pPr>
            <a:r>
              <a:t>Transport Cost Growth</a:t>
            </a:r>
          </a:p>
          <a:p>
            <a:pPr>
              <a:spcBef>
                <a:spcPts val="600"/>
              </a:spcBef>
              <a:defRPr sz="1100">
                <a:solidFill>
                  <a:srgbClr val="E2F5EC"/>
                </a:solidFill>
                <a:latin typeface="Arial"/>
              </a:defRPr>
            </a:pPr>
            <a:r>
              <a:t>Transport costs have also grown, with peak-hour Salik tolls rising from AED 4 to AED 6 (Gulf Business, 2024).</a:t>
            </a:r>
          </a:p>
        </p:txBody>
      </p:sp>
      <p:sp>
        <p:nvSpPr>
          <p:cNvPr id="12" name="Rounded Rectangle 11"/>
          <p:cNvSpPr/>
          <p:nvPr/>
        </p:nvSpPr>
        <p:spPr>
          <a:xfrm>
            <a:off x="6248095" y="4297680"/>
            <a:ext cx="5212080" cy="1874519"/>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6695" y="4480560"/>
            <a:ext cx="4754880" cy="1554479"/>
          </a:xfrm>
          <a:prstGeom prst="rect">
            <a:avLst/>
          </a:prstGeom>
          <a:noFill/>
        </p:spPr>
        <p:txBody>
          <a:bodyPr wrap="square">
            <a:spAutoFit/>
          </a:bodyPr>
          <a:lstStyle/>
          <a:p>
            <a:pPr>
              <a:defRPr sz="1300" b="1">
                <a:solidFill>
                  <a:srgbClr val="FFFFFF"/>
                </a:solidFill>
                <a:latin typeface="Montserrat"/>
              </a:defRPr>
            </a:pPr>
            <a:r>
              <a:t>Buy Now, Pay Later (BNPL)</a:t>
            </a:r>
          </a:p>
          <a:p>
            <a:pPr>
              <a:spcBef>
                <a:spcPts val="600"/>
              </a:spcBef>
              <a:defRPr sz="1100">
                <a:solidFill>
                  <a:srgbClr val="E2F5EC"/>
                </a:solidFill>
                <a:latin typeface="Arial"/>
              </a:defRPr>
            </a:pPr>
            <a:r>
              <a:t>Buy now, pay later data from Tabby and Tamara now appears on UAE credit reports, so everyday instalment purchases can affect future loans and rentals (Gulf News,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LAREB’S PART • 1. BACKGROUND</a:t>
            </a:r>
          </a:p>
          <a:p>
            <a:pPr>
              <a:spcBef>
                <a:spcPts val="300"/>
              </a:spcBef>
              <a:defRPr sz="2200" b="1">
                <a:solidFill>
                  <a:srgbClr val="FFFFFF"/>
                </a:solidFill>
                <a:latin typeface="Montserrat"/>
              </a:defRPr>
            </a:pPr>
            <a:r>
              <a:t>THE COMMUNICATION ISSUE</a:t>
            </a:r>
          </a:p>
        </p:txBody>
      </p:sp>
      <p:sp>
        <p:nvSpPr>
          <p:cNvPr id="4" name="Rounded Rectangle 3"/>
          <p:cNvSpPr/>
          <p:nvPr/>
        </p:nvSpPr>
        <p:spPr>
          <a:xfrm>
            <a:off x="731520" y="1371600"/>
            <a:ext cx="10728655"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645920"/>
            <a:ext cx="9997135" cy="4206240"/>
          </a:xfrm>
          <a:prstGeom prst="rect">
            <a:avLst/>
          </a:prstGeom>
          <a:noFill/>
        </p:spPr>
        <p:txBody>
          <a:bodyPr wrap="square">
            <a:spAutoFit/>
          </a:bodyPr>
          <a:lstStyle/>
          <a:p>
            <a:pPr>
              <a:defRPr sz="1500" b="1">
                <a:solidFill>
                  <a:srgbClr val="A7F3D0"/>
                </a:solidFill>
                <a:latin typeface="Montserrat"/>
              </a:defRPr>
            </a:pPr>
            <a:r>
              <a:t>EXISTING SUPPORT VS. UNAWARENESS</a:t>
            </a:r>
          </a:p>
          <a:p>
            <a:pPr>
              <a:spcBef>
                <a:spcPts val="1000"/>
              </a:spcBef>
              <a:defRPr sz="1300">
                <a:solidFill>
                  <a:srgbClr val="FFFFFF"/>
                </a:solidFill>
                <a:latin typeface="Arial"/>
              </a:defRPr>
            </a:pPr>
            <a:r>
              <a:t>The main communication issue is that support already exists, such as the Dubai Land Department rental index and Etihad Credit Bureau credit reports, but many young people are unaware of it.</a:t>
            </a:r>
          </a:p>
          <a:p>
            <a:pPr>
              <a:spcBef>
                <a:spcPts val="2400"/>
              </a:spcBef>
              <a:defRPr sz="1500" b="1">
                <a:solidFill>
                  <a:srgbClr val="A7F3D0"/>
                </a:solidFill>
                <a:latin typeface="Montserrat"/>
              </a:defRPr>
            </a:pPr>
            <a:r>
              <a:t>RELIANCE ON SOCIAL MEDIA &amp; REGULATORY RESPONSE</a:t>
            </a:r>
          </a:p>
          <a:p>
            <a:pPr>
              <a:spcBef>
                <a:spcPts val="1000"/>
              </a:spcBef>
              <a:defRPr sz="1300">
                <a:solidFill>
                  <a:srgbClr val="FFFFFF"/>
                </a:solidFill>
                <a:latin typeface="Arial"/>
              </a:defRPr>
            </a:pPr>
            <a:r>
              <a:t>Instead, they rely on social media, where unrealistic lifestyles and unverified advice are common, a risk the UAE has addressed by licensing finance influencers (Issa,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LAREB’S PART • 2. PROBLEMS AND OPPORTUNITIES</a:t>
            </a:r>
          </a:p>
          <a:p>
            <a:pPr>
              <a:spcBef>
                <a:spcPts val="300"/>
              </a:spcBef>
              <a:defRPr sz="2200" b="1">
                <a:solidFill>
                  <a:srgbClr val="FFFFFF"/>
                </a:solidFill>
                <a:latin typeface="Montserrat"/>
              </a:defRPr>
            </a:pPr>
            <a:r>
              <a:t>PROBLEM AND OPPORTUNITY ANALYSIS</a:t>
            </a:r>
          </a:p>
        </p:txBody>
      </p:sp>
      <p:sp>
        <p:nvSpPr>
          <p:cNvPr id="4" name="Rounded Rectangle 3"/>
          <p:cNvSpPr/>
          <p:nvPr/>
        </p:nvSpPr>
        <p:spPr>
          <a:xfrm>
            <a:off x="731520" y="1371600"/>
            <a:ext cx="5212080"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20"/>
            <a:ext cx="4663440" cy="4206240"/>
          </a:xfrm>
          <a:prstGeom prst="rect">
            <a:avLst/>
          </a:prstGeom>
          <a:noFill/>
        </p:spPr>
        <p:txBody>
          <a:bodyPr wrap="square">
            <a:spAutoFit/>
          </a:bodyPr>
          <a:lstStyle/>
          <a:p>
            <a:pPr>
              <a:defRPr sz="1600" b="1">
                <a:solidFill>
                  <a:srgbClr val="A7F3D0"/>
                </a:solidFill>
                <a:latin typeface="Montserrat"/>
              </a:defRPr>
            </a:pPr>
            <a:r>
              <a:t>THE PROBLEM</a:t>
            </a:r>
          </a:p>
          <a:p>
            <a:pPr>
              <a:spcBef>
                <a:spcPts val="1200"/>
              </a:spcBef>
              <a:defRPr sz="1200">
                <a:solidFill>
                  <a:srgbClr val="E2F5EC"/>
                </a:solidFill>
                <a:latin typeface="Arial"/>
              </a:defRPr>
            </a:pPr>
            <a:r>
              <a:t>The problem is that young people in Dubai are facing rising living costs but lack clear and reliable guidance on how to manage them.</a:t>
            </a:r>
            <a:br/>
            <a:br/>
            <a:r>
              <a:t>Support services and educational resources already exist, but young people are unaware of them, and the active social media life spreads unrealistic expectations and misinformation about financial well-being.</a:t>
            </a:r>
          </a:p>
        </p:txBody>
      </p:sp>
      <p:sp>
        <p:nvSpPr>
          <p:cNvPr id="6" name="Rounded Rectangle 5"/>
          <p:cNvSpPr/>
          <p:nvPr/>
        </p:nvSpPr>
        <p:spPr>
          <a:xfrm>
            <a:off x="6248095" y="1371600"/>
            <a:ext cx="5212080"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22415" y="1645920"/>
            <a:ext cx="4663440" cy="4206240"/>
          </a:xfrm>
          <a:prstGeom prst="rect">
            <a:avLst/>
          </a:prstGeom>
          <a:noFill/>
        </p:spPr>
        <p:txBody>
          <a:bodyPr wrap="square">
            <a:spAutoFit/>
          </a:bodyPr>
          <a:lstStyle/>
          <a:p>
            <a:pPr>
              <a:defRPr sz="1600" b="1">
                <a:solidFill>
                  <a:srgbClr val="A7F3D0"/>
                </a:solidFill>
                <a:latin typeface="Montserrat"/>
              </a:defRPr>
            </a:pPr>
            <a:r>
              <a:t>THE OPPORTUNITY</a:t>
            </a:r>
          </a:p>
          <a:p>
            <a:pPr>
              <a:spcBef>
                <a:spcPts val="1200"/>
              </a:spcBef>
              <a:defRPr sz="1200">
                <a:solidFill>
                  <a:srgbClr val="E2F5EC"/>
                </a:solidFill>
                <a:latin typeface="Arial"/>
              </a:defRPr>
            </a:pPr>
            <a:r>
              <a:t>This is an opportunity for YFWD to step in early, before it becomes a broader social problem.</a:t>
            </a:r>
            <a:br/>
            <a:br/>
            <a:r>
              <a:t>As a neutral organisation, YFWD can position itself as a trusted source of guidance by using platforms young people already use to promote financial literacy, responsible spending and saving, and awareness of available support.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GLEB’S PART</a:t>
            </a:r>
          </a:p>
          <a:p>
            <a:pPr>
              <a:spcBef>
                <a:spcPts val="300"/>
              </a:spcBef>
              <a:defRPr sz="2200" b="1">
                <a:solidFill>
                  <a:srgbClr val="FFFFFF"/>
                </a:solidFill>
                <a:latin typeface="Montserrat"/>
              </a:defRPr>
            </a:pPr>
            <a:r>
              <a:t>TARGET PUBLICS &amp; CORE MESSAGE</a:t>
            </a:r>
          </a:p>
        </p:txBody>
      </p:sp>
      <p:sp>
        <p:nvSpPr>
          <p:cNvPr id="4" name="Rounded Rectangle 3"/>
          <p:cNvSpPr/>
          <p:nvPr/>
        </p:nvSpPr>
        <p:spPr>
          <a:xfrm>
            <a:off x="731520" y="1371600"/>
            <a:ext cx="5212080"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20"/>
            <a:ext cx="4663440" cy="4206240"/>
          </a:xfrm>
          <a:prstGeom prst="rect">
            <a:avLst/>
          </a:prstGeom>
          <a:noFill/>
        </p:spPr>
        <p:txBody>
          <a:bodyPr wrap="square">
            <a:spAutoFit/>
          </a:bodyPr>
          <a:lstStyle/>
          <a:p>
            <a:pPr>
              <a:defRPr sz="1600" b="1">
                <a:solidFill>
                  <a:srgbClr val="A7F3D0"/>
                </a:solidFill>
                <a:latin typeface="Montserrat"/>
              </a:defRPr>
            </a:pPr>
            <a:r>
              <a:t>TARGET PUBLICS</a:t>
            </a:r>
          </a:p>
          <a:p>
            <a:pPr>
              <a:spcBef>
                <a:spcPts val="1400"/>
              </a:spcBef>
              <a:defRPr sz="1300" b="1">
                <a:solidFill>
                  <a:srgbClr val="FFFFFF"/>
                </a:solidFill>
                <a:latin typeface="Montserrat"/>
              </a:defRPr>
            </a:pPr>
            <a:r>
              <a:t>Primary Public:</a:t>
            </a:r>
          </a:p>
          <a:p>
            <a:pPr>
              <a:spcBef>
                <a:spcPts val="400"/>
              </a:spcBef>
              <a:defRPr sz="1200">
                <a:solidFill>
                  <a:srgbClr val="E2F5EC"/>
                </a:solidFill>
                <a:latin typeface="Arial"/>
              </a:defRPr>
            </a:pPr>
            <a:r>
              <a:t>Dubai residents aged 25-34, especially young professionals, graduates and renters.</a:t>
            </a:r>
          </a:p>
          <a:p>
            <a:pPr>
              <a:spcBef>
                <a:spcPts val="2000"/>
              </a:spcBef>
              <a:defRPr sz="1300" b="1">
                <a:solidFill>
                  <a:srgbClr val="FFFFFF"/>
                </a:solidFill>
                <a:latin typeface="Montserrat"/>
              </a:defRPr>
            </a:pPr>
            <a:r>
              <a:t>Secondary Publics:</a:t>
            </a:r>
          </a:p>
          <a:p>
            <a:pPr>
              <a:spcBef>
                <a:spcPts val="400"/>
              </a:spcBef>
              <a:defRPr sz="1200">
                <a:solidFill>
                  <a:srgbClr val="E2F5EC"/>
                </a:solidFill>
                <a:latin typeface="Arial"/>
              </a:defRPr>
            </a:pPr>
            <a:r>
              <a:t>Universities, employers, banks, property providers, discount platforms and community organisations.</a:t>
            </a:r>
          </a:p>
        </p:txBody>
      </p:sp>
      <p:sp>
        <p:nvSpPr>
          <p:cNvPr id="6" name="Rounded Rectangle 5"/>
          <p:cNvSpPr/>
          <p:nvPr/>
        </p:nvSpPr>
        <p:spPr>
          <a:xfrm>
            <a:off x="6248095" y="1371600"/>
            <a:ext cx="5212080"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22415" y="1645920"/>
            <a:ext cx="4663440" cy="4206240"/>
          </a:xfrm>
          <a:prstGeom prst="rect">
            <a:avLst/>
          </a:prstGeom>
          <a:noFill/>
        </p:spPr>
        <p:txBody>
          <a:bodyPr wrap="square">
            <a:spAutoFit/>
          </a:bodyPr>
          <a:lstStyle/>
          <a:p>
            <a:pPr>
              <a:defRPr sz="1600" b="1">
                <a:solidFill>
                  <a:srgbClr val="A7F3D0"/>
                </a:solidFill>
                <a:latin typeface="Montserrat"/>
              </a:defRPr>
            </a:pPr>
            <a:r>
              <a:t>MESSAGE</a:t>
            </a:r>
          </a:p>
          <a:p>
            <a:pPr>
              <a:spcBef>
                <a:spcPts val="2400"/>
              </a:spcBef>
              <a:defRPr sz="2200" b="1">
                <a:solidFill>
                  <a:srgbClr val="FFFFFF"/>
                </a:solidFill>
                <a:latin typeface="Montserrat"/>
              </a:defRPr>
            </a:pPr>
            <a:r>
              <a:t>“Dubai Life. Smarter Finances.”</a:t>
            </a:r>
          </a:p>
          <a:p>
            <a:pPr>
              <a:spcBef>
                <a:spcPts val="1400"/>
              </a:spcBef>
              <a:defRPr sz="1300">
                <a:solidFill>
                  <a:srgbClr val="E2F5EC"/>
                </a:solidFill>
                <a:latin typeface="Arial"/>
              </a:defRPr>
            </a:pPr>
            <a:r>
              <a:t>Helping young people manage Dubai’s cost of living through informed financial decisions, practical planning and access to real cost-saving opportunities.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GLEB’S PART • STRATEGY</a:t>
            </a:r>
          </a:p>
          <a:p>
            <a:pPr>
              <a:spcBef>
                <a:spcPts val="300"/>
              </a:spcBef>
              <a:defRPr sz="2200" b="1">
                <a:solidFill>
                  <a:srgbClr val="FFFFFF"/>
                </a:solidFill>
                <a:latin typeface="Montserrat"/>
              </a:defRPr>
            </a:pPr>
            <a:r>
              <a:t>EDUCATE - EQUIP - CONNECT</a:t>
            </a:r>
          </a:p>
        </p:txBody>
      </p:sp>
      <p:sp>
        <p:nvSpPr>
          <p:cNvPr id="4" name="Rounded Rectangle 3"/>
          <p:cNvSpPr/>
          <p:nvPr/>
        </p:nvSpPr>
        <p:spPr>
          <a:xfrm>
            <a:off x="7315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45920"/>
            <a:ext cx="2944368" cy="4206240"/>
          </a:xfrm>
          <a:prstGeom prst="rect">
            <a:avLst/>
          </a:prstGeom>
          <a:noFill/>
        </p:spPr>
        <p:txBody>
          <a:bodyPr wrap="square">
            <a:spAutoFit/>
          </a:bodyPr>
          <a:lstStyle/>
          <a:p>
            <a:pPr>
              <a:defRPr sz="1600" b="1">
                <a:solidFill>
                  <a:srgbClr val="A7F3D0"/>
                </a:solidFill>
                <a:latin typeface="Montserrat"/>
              </a:defRPr>
            </a:pPr>
            <a:r>
              <a:t>01. EDUCATE</a:t>
            </a:r>
          </a:p>
          <a:p>
            <a:pPr>
              <a:spcBef>
                <a:spcPts val="1200"/>
              </a:spcBef>
              <a:defRPr sz="1150">
                <a:solidFill>
                  <a:srgbClr val="E2F5EC"/>
                </a:solidFill>
                <a:latin typeface="Arial"/>
              </a:defRPr>
            </a:pPr>
            <a:r>
              <a:t>Social media content, workshops and practical advice on budgeting, rent, transport and saving.</a:t>
            </a:r>
          </a:p>
        </p:txBody>
      </p:sp>
      <p:sp>
        <p:nvSpPr>
          <p:cNvPr id="6" name="Rounded Rectangle 5"/>
          <p:cNvSpPr/>
          <p:nvPr/>
        </p:nvSpPr>
        <p:spPr>
          <a:xfrm>
            <a:off x="43891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645920"/>
            <a:ext cx="2944368" cy="4206240"/>
          </a:xfrm>
          <a:prstGeom prst="rect">
            <a:avLst/>
          </a:prstGeom>
          <a:noFill/>
        </p:spPr>
        <p:txBody>
          <a:bodyPr wrap="square">
            <a:spAutoFit/>
          </a:bodyPr>
          <a:lstStyle/>
          <a:p>
            <a:pPr>
              <a:defRPr sz="1600" b="1">
                <a:solidFill>
                  <a:srgbClr val="A7F3D0"/>
                </a:solidFill>
                <a:latin typeface="Montserrat"/>
              </a:defRPr>
            </a:pPr>
            <a:r>
              <a:t>02. EQUIP</a:t>
            </a:r>
          </a:p>
          <a:p>
            <a:pPr>
              <a:spcBef>
                <a:spcPts val="1200"/>
              </a:spcBef>
              <a:defRPr sz="1150">
                <a:solidFill>
                  <a:srgbClr val="E2F5EC"/>
                </a:solidFill>
                <a:latin typeface="Arial"/>
              </a:defRPr>
            </a:pPr>
            <a:r>
              <a:t>Provide budget-planning software, financial tools and cost-saving guides.</a:t>
            </a:r>
          </a:p>
        </p:txBody>
      </p:sp>
      <p:sp>
        <p:nvSpPr>
          <p:cNvPr id="8" name="Rounded Rectangle 7"/>
          <p:cNvSpPr/>
          <p:nvPr/>
        </p:nvSpPr>
        <p:spPr>
          <a:xfrm>
            <a:off x="80467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645920"/>
            <a:ext cx="2944368" cy="4206240"/>
          </a:xfrm>
          <a:prstGeom prst="rect">
            <a:avLst/>
          </a:prstGeom>
          <a:noFill/>
        </p:spPr>
        <p:txBody>
          <a:bodyPr wrap="square">
            <a:spAutoFit/>
          </a:bodyPr>
          <a:lstStyle/>
          <a:p>
            <a:pPr>
              <a:defRPr sz="1600" b="1">
                <a:solidFill>
                  <a:srgbClr val="A7F3D0"/>
                </a:solidFill>
                <a:latin typeface="Montserrat"/>
              </a:defRPr>
            </a:pPr>
            <a:r>
              <a:t>03. CONNECT</a:t>
            </a:r>
          </a:p>
          <a:p>
            <a:pPr>
              <a:spcBef>
                <a:spcPts val="1200"/>
              </a:spcBef>
              <a:defRPr sz="1150">
                <a:solidFill>
                  <a:srgbClr val="E2F5EC"/>
                </a:solidFill>
                <a:latin typeface="Arial"/>
              </a:defRPr>
            </a:pPr>
            <a:r>
              <a:t>Partner with banks, rental/property providers, Fazaa and other discount platforms, restaurants and food-delivery services to provide relevant financial benefits and discounts.</a:t>
            </a:r>
            <a:br/>
            <a:br/>
            <a:r>
              <a:t>• Zywad bank card: Seek educational collaboration with Zywa, using its money-management app and prepaid-card model to explain spending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GLEB’S PART</a:t>
            </a:r>
          </a:p>
          <a:p>
            <a:pPr>
              <a:spcBef>
                <a:spcPts val="300"/>
              </a:spcBef>
              <a:defRPr sz="2200" b="1">
                <a:solidFill>
                  <a:srgbClr val="FFFFFF"/>
                </a:solidFill>
                <a:latin typeface="Montserrat"/>
              </a:defRPr>
            </a:pPr>
            <a:r>
              <a:t>SAVINGS EXAMPLE CALCULATION</a:t>
            </a:r>
          </a:p>
        </p:txBody>
      </p:sp>
      <p:sp>
        <p:nvSpPr>
          <p:cNvPr id="4" name="Rounded Rectangle 3"/>
          <p:cNvSpPr/>
          <p:nvPr/>
        </p:nvSpPr>
        <p:spPr>
          <a:xfrm>
            <a:off x="731520" y="1371600"/>
            <a:ext cx="10728655"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645920"/>
            <a:ext cx="9997135" cy="4206240"/>
          </a:xfrm>
          <a:prstGeom prst="rect">
            <a:avLst/>
          </a:prstGeom>
          <a:noFill/>
        </p:spPr>
        <p:txBody>
          <a:bodyPr wrap="square">
            <a:spAutoFit/>
          </a:bodyPr>
          <a:lstStyle/>
          <a:p>
            <a:pPr>
              <a:defRPr sz="1500" b="1">
                <a:solidFill>
                  <a:srgbClr val="A7F3D0"/>
                </a:solidFill>
                <a:latin typeface="Montserrat"/>
              </a:defRPr>
            </a:pPr>
            <a:r>
              <a:t>HOW THE SAME BUDGET CAN BE USED BETTER THROUGH PROPOSED SAVINGS</a:t>
            </a:r>
          </a:p>
          <a:p>
            <a:pPr>
              <a:spcBef>
                <a:spcPts val="1200"/>
              </a:spcBef>
              <a:defRPr sz="1300">
                <a:solidFill>
                  <a:srgbClr val="FFFFFF"/>
                </a:solidFill>
                <a:latin typeface="Arial"/>
              </a:defRPr>
            </a:pPr>
            <a:r>
              <a:t>Meal planning, suitable transport alternatives, fewer food-delivery orders and cancelling unused subscriptions could save AED 460 monthly.</a:t>
            </a:r>
          </a:p>
          <a:p>
            <a:pPr>
              <a:spcBef>
                <a:spcPts val="2000"/>
              </a:spcBef>
              <a:defRPr sz="2000" b="1">
                <a:solidFill>
                  <a:srgbClr val="FDE68A"/>
                </a:solidFill>
                <a:latin typeface="Montserrat"/>
              </a:defRPr>
            </a:pPr>
            <a:r>
              <a:t>Within the same AED 6,000 budget, savings could increase from AED 500 to AED 960.</a:t>
            </a:r>
          </a:p>
          <a:p>
            <a:pPr>
              <a:spcBef>
                <a:spcPts val="1600"/>
              </a:spcBef>
              <a:defRPr sz="1150" i="1">
                <a:solidFill>
                  <a:srgbClr val="8CC3AA"/>
                </a:solidFill>
                <a:latin typeface="Arial"/>
              </a:defRPr>
            </a:pPr>
            <a:r>
              <a:t>This is an illustrative example; savings are not guaranteed or a card benefit.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AMALIYA’S PART • CHANNELS AND TACTICS</a:t>
            </a:r>
          </a:p>
          <a:p>
            <a:pPr>
              <a:spcBef>
                <a:spcPts val="300"/>
              </a:spcBef>
              <a:defRPr sz="2200" b="1">
                <a:solidFill>
                  <a:srgbClr val="FFFFFF"/>
                </a:solidFill>
                <a:latin typeface="Montserrat"/>
              </a:defRPr>
            </a:pPr>
            <a:r>
              <a:t>EDUCATE - EQUIP - CONNECT IMPLEMENTATION</a:t>
            </a:r>
          </a:p>
        </p:txBody>
      </p:sp>
      <p:sp>
        <p:nvSpPr>
          <p:cNvPr id="4" name="Rounded Rectangle 3"/>
          <p:cNvSpPr/>
          <p:nvPr/>
        </p:nvSpPr>
        <p:spPr>
          <a:xfrm>
            <a:off x="7315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45920"/>
            <a:ext cx="2944368" cy="4206240"/>
          </a:xfrm>
          <a:prstGeom prst="rect">
            <a:avLst/>
          </a:prstGeom>
          <a:noFill/>
        </p:spPr>
        <p:txBody>
          <a:bodyPr wrap="square">
            <a:spAutoFit/>
          </a:bodyPr>
          <a:lstStyle/>
          <a:p>
            <a:pPr>
              <a:defRPr sz="1500" b="1">
                <a:solidFill>
                  <a:srgbClr val="A7F3D0"/>
                </a:solidFill>
                <a:latin typeface="Montserrat"/>
              </a:defRPr>
            </a:pPr>
            <a:r>
              <a:t>EDUCATE:</a:t>
            </a:r>
          </a:p>
          <a:p>
            <a:pPr>
              <a:spcBef>
                <a:spcPts val="1000"/>
              </a:spcBef>
              <a:defRPr sz="1050">
                <a:solidFill>
                  <a:srgbClr val="E2F5EC"/>
                </a:solidFill>
                <a:latin typeface="Arial"/>
              </a:defRPr>
            </a:pPr>
            <a:r>
              <a:t>• Publish two weekly Instagram and TikTok posts about budgeting, rent, transport and saving.</a:t>
            </a:r>
            <a:br/>
            <a:br/>
            <a:r>
              <a:t>• Run six practical workshops through universities, employers and community organisations.</a:t>
            </a:r>
          </a:p>
        </p:txBody>
      </p:sp>
      <p:sp>
        <p:nvSpPr>
          <p:cNvPr id="6" name="Rounded Rectangle 5"/>
          <p:cNvSpPr/>
          <p:nvPr/>
        </p:nvSpPr>
        <p:spPr>
          <a:xfrm>
            <a:off x="43891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645920"/>
            <a:ext cx="2944368" cy="4206240"/>
          </a:xfrm>
          <a:prstGeom prst="rect">
            <a:avLst/>
          </a:prstGeom>
          <a:noFill/>
        </p:spPr>
        <p:txBody>
          <a:bodyPr wrap="square">
            <a:spAutoFit/>
          </a:bodyPr>
          <a:lstStyle/>
          <a:p>
            <a:pPr>
              <a:defRPr sz="1500" b="1">
                <a:solidFill>
                  <a:srgbClr val="A7F3D0"/>
                </a:solidFill>
                <a:latin typeface="Montserrat"/>
              </a:defRPr>
            </a:pPr>
            <a:r>
              <a:t>EQUIP:</a:t>
            </a:r>
          </a:p>
          <a:p>
            <a:pPr>
              <a:spcBef>
                <a:spcPts val="1000"/>
              </a:spcBef>
              <a:defRPr sz="1050">
                <a:solidFill>
                  <a:srgbClr val="E2F5EC"/>
                </a:solidFill>
                <a:latin typeface="Arial"/>
              </a:defRPr>
            </a:pPr>
            <a:r>
              <a:t>• Create a campaign webpage with a free budget planner, savings calculator and practical guides.</a:t>
            </a:r>
            <a:br/>
            <a:br/>
            <a:r>
              <a:t>• Promote it through QR codes and partner newsletters.</a:t>
            </a:r>
            <a:br/>
            <a:br/>
            <a:r>
              <a:t>• Launch a "30-Day Budget Challenge" to help participants track spending and set savings goals.</a:t>
            </a:r>
          </a:p>
        </p:txBody>
      </p:sp>
      <p:sp>
        <p:nvSpPr>
          <p:cNvPr id="8" name="Rounded Rectangle 7"/>
          <p:cNvSpPr/>
          <p:nvPr/>
        </p:nvSpPr>
        <p:spPr>
          <a:xfrm>
            <a:off x="80467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645920"/>
            <a:ext cx="2944368" cy="4206240"/>
          </a:xfrm>
          <a:prstGeom prst="rect">
            <a:avLst/>
          </a:prstGeom>
          <a:noFill/>
        </p:spPr>
        <p:txBody>
          <a:bodyPr wrap="square">
            <a:spAutoFit/>
          </a:bodyPr>
          <a:lstStyle/>
          <a:p>
            <a:pPr>
              <a:defRPr sz="1500" b="1">
                <a:solidFill>
                  <a:srgbClr val="A7F3D0"/>
                </a:solidFill>
                <a:latin typeface="Montserrat"/>
              </a:defRPr>
            </a:pPr>
            <a:r>
              <a:t>CONNECT:</a:t>
            </a:r>
          </a:p>
          <a:p>
            <a:pPr>
              <a:spcBef>
                <a:spcPts val="1000"/>
              </a:spcBef>
              <a:defRPr sz="1050">
                <a:solidFill>
                  <a:srgbClr val="E2F5EC"/>
                </a:solidFill>
                <a:latin typeface="Arial"/>
              </a:defRPr>
            </a:pPr>
            <a:r>
              <a:t>• Seek educational collaboration with Zywa, using its money-management app and prepaid-card model to explain spending control.</a:t>
            </a:r>
            <a:br/>
            <a:br/>
            <a:r>
              <a:t>• Seek partnerships with banks, property providers, restaurants and discount platforms, including Fazaa, to share cost-saving opportunities.</a:t>
            </a:r>
            <a:br/>
            <a:br/>
            <a:r>
              <a:t>• Clearly explain eligibility and offer conditions.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AMALIYA’S PART • BUDGET</a:t>
            </a:r>
          </a:p>
          <a:p>
            <a:pPr>
              <a:spcBef>
                <a:spcPts val="300"/>
              </a:spcBef>
              <a:defRPr sz="2200" b="1">
                <a:solidFill>
                  <a:srgbClr val="FFFFFF"/>
                </a:solidFill>
                <a:latin typeface="Montserrat"/>
              </a:defRPr>
            </a:pPr>
            <a:r>
              <a:t>DURATION: 12 MONTHS. TOTAL: AED 50,000</a:t>
            </a:r>
          </a:p>
        </p:txBody>
      </p:sp>
      <p:sp>
        <p:nvSpPr>
          <p:cNvPr id="4" name="Rounded Rectangle 3"/>
          <p:cNvSpPr/>
          <p:nvPr/>
        </p:nvSpPr>
        <p:spPr>
          <a:xfrm>
            <a:off x="731520" y="1371600"/>
            <a:ext cx="5943600"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914400" y="1554480"/>
          <a:ext cx="5577840" cy="4297680"/>
        </p:xfrm>
        <a:graphic>
          <a:graphicData uri="http://schemas.openxmlformats.org/drawingml/2006/table">
            <a:tbl>
              <a:tblPr firstRow="1" bandRow="1">
                <a:tableStyleId>{5C22544A-7EE6-4342-B048-85BDC9FD1C3A}</a:tableStyleId>
              </a:tblPr>
              <a:tblGrid>
                <a:gridCol w="3931920"/>
                <a:gridCol w="1645920"/>
              </a:tblGrid>
              <a:tr h="390698">
                <a:tc>
                  <a:txBody>
                    <a:bodyPr/>
                    <a:lstStyle/>
                    <a:p>
                      <a:pPr>
                        <a:defRPr sz="1000" b="1">
                          <a:solidFill>
                            <a:srgbClr val="A7F3D0"/>
                          </a:solidFill>
                          <a:latin typeface="Montserrat"/>
                        </a:defRPr>
                      </a:pPr>
                      <a:r>
                        <a:t>Item</a:t>
                      </a:r>
                    </a:p>
                  </a:txBody>
                  <a:tcPr>
                    <a:solidFill>
                      <a:srgbClr val="0E3828"/>
                    </a:solidFill>
                  </a:tcPr>
                </a:tc>
                <a:tc>
                  <a:txBody>
                    <a:bodyPr/>
                    <a:lstStyle/>
                    <a:p>
                      <a:pPr>
                        <a:defRPr sz="1000" b="1">
                          <a:solidFill>
                            <a:srgbClr val="A7F3D0"/>
                          </a:solidFill>
                          <a:latin typeface="Montserrat"/>
                        </a:defRPr>
                      </a:pPr>
                      <a:r>
                        <a:t>AED</a:t>
                      </a:r>
                    </a:p>
                  </a:txBody>
                  <a:tcPr>
                    <a:solidFill>
                      <a:srgbClr val="0E3828"/>
                    </a:solidFill>
                  </a:tcPr>
                </a:tc>
              </a:tr>
              <a:tr h="390698">
                <a:tc>
                  <a:txBody>
                    <a:bodyPr/>
                    <a:lstStyle/>
                    <a:p>
                      <a:pPr>
                        <a:defRPr sz="950">
                          <a:solidFill>
                            <a:srgbClr val="E2F5EC"/>
                          </a:solidFill>
                          <a:latin typeface="Arial"/>
                        </a:defRPr>
                      </a:pPr>
                      <a:r>
                        <a:t>Research and evaluation</a:t>
                      </a:r>
                    </a:p>
                  </a:txBody>
                  <a:tcPr>
                    <a:solidFill>
                      <a:srgbClr val="09261B"/>
                    </a:solidFill>
                  </a:tcPr>
                </a:tc>
                <a:tc>
                  <a:txBody>
                    <a:bodyPr/>
                    <a:lstStyle/>
                    <a:p>
                      <a:pPr>
                        <a:defRPr sz="950">
                          <a:solidFill>
                            <a:srgbClr val="E2F5EC"/>
                          </a:solidFill>
                          <a:latin typeface="Arial"/>
                        </a:defRPr>
                      </a:pPr>
                      <a:r>
                        <a:t>5,000</a:t>
                      </a:r>
                    </a:p>
                  </a:txBody>
                  <a:tcPr>
                    <a:solidFill>
                      <a:srgbClr val="09261B"/>
                    </a:solidFill>
                  </a:tcPr>
                </a:tc>
              </a:tr>
              <a:tr h="390698">
                <a:tc>
                  <a:txBody>
                    <a:bodyPr/>
                    <a:lstStyle/>
                    <a:p>
                      <a:pPr>
                        <a:defRPr sz="950">
                          <a:solidFill>
                            <a:srgbClr val="E2F5EC"/>
                          </a:solidFill>
                          <a:latin typeface="Arial"/>
                        </a:defRPr>
                      </a:pPr>
                      <a:r>
                        <a:t>Educational content</a:t>
                      </a:r>
                    </a:p>
                  </a:txBody>
                  <a:tcPr>
                    <a:solidFill>
                      <a:srgbClr val="09261B"/>
                    </a:solidFill>
                  </a:tcPr>
                </a:tc>
                <a:tc>
                  <a:txBody>
                    <a:bodyPr/>
                    <a:lstStyle/>
                    <a:p>
                      <a:pPr>
                        <a:defRPr sz="950">
                          <a:solidFill>
                            <a:srgbClr val="E2F5EC"/>
                          </a:solidFill>
                          <a:latin typeface="Arial"/>
                        </a:defRPr>
                      </a:pPr>
                      <a:r>
                        <a:t>9,000</a:t>
                      </a:r>
                    </a:p>
                  </a:txBody>
                  <a:tcPr>
                    <a:solidFill>
                      <a:srgbClr val="09261B"/>
                    </a:solidFill>
                  </a:tcPr>
                </a:tc>
              </a:tr>
              <a:tr h="390698">
                <a:tc>
                  <a:txBody>
                    <a:bodyPr/>
                    <a:lstStyle/>
                    <a:p>
                      <a:pPr>
                        <a:defRPr sz="950">
                          <a:solidFill>
                            <a:srgbClr val="E2F5EC"/>
                          </a:solidFill>
                          <a:latin typeface="Arial"/>
                        </a:defRPr>
                      </a:pPr>
                      <a:r>
                        <a:t>Social media advertising</a:t>
                      </a:r>
                    </a:p>
                  </a:txBody>
                  <a:tcPr>
                    <a:solidFill>
                      <a:srgbClr val="09261B"/>
                    </a:solidFill>
                  </a:tcPr>
                </a:tc>
                <a:tc>
                  <a:txBody>
                    <a:bodyPr/>
                    <a:lstStyle/>
                    <a:p>
                      <a:pPr>
                        <a:defRPr sz="950">
                          <a:solidFill>
                            <a:srgbClr val="E2F5EC"/>
                          </a:solidFill>
                          <a:latin typeface="Arial"/>
                        </a:defRPr>
                      </a:pPr>
                      <a:r>
                        <a:t>10,000</a:t>
                      </a:r>
                    </a:p>
                  </a:txBody>
                  <a:tcPr>
                    <a:solidFill>
                      <a:srgbClr val="09261B"/>
                    </a:solidFill>
                  </a:tcPr>
                </a:tc>
              </a:tr>
              <a:tr h="390698">
                <a:tc>
                  <a:txBody>
                    <a:bodyPr/>
                    <a:lstStyle/>
                    <a:p>
                      <a:pPr>
                        <a:defRPr sz="950">
                          <a:solidFill>
                            <a:srgbClr val="E2F5EC"/>
                          </a:solidFill>
                          <a:latin typeface="Arial"/>
                        </a:defRPr>
                      </a:pPr>
                      <a:r>
                        <a:t>Campaign webpage tools</a:t>
                      </a:r>
                    </a:p>
                  </a:txBody>
                  <a:tcPr>
                    <a:solidFill>
                      <a:srgbClr val="09261B"/>
                    </a:solidFill>
                  </a:tcPr>
                </a:tc>
                <a:tc>
                  <a:txBody>
                    <a:bodyPr/>
                    <a:lstStyle/>
                    <a:p>
                      <a:pPr>
                        <a:defRPr sz="950">
                          <a:solidFill>
                            <a:srgbClr val="E2F5EC"/>
                          </a:solidFill>
                          <a:latin typeface="Arial"/>
                        </a:defRPr>
                      </a:pPr>
                      <a:r>
                        <a:t>6,000</a:t>
                      </a:r>
                    </a:p>
                  </a:txBody>
                  <a:tcPr>
                    <a:solidFill>
                      <a:srgbClr val="09261B"/>
                    </a:solidFill>
                  </a:tcPr>
                </a:tc>
              </a:tr>
              <a:tr h="390698">
                <a:tc>
                  <a:txBody>
                    <a:bodyPr/>
                    <a:lstStyle/>
                    <a:p>
                      <a:pPr>
                        <a:defRPr sz="950">
                          <a:solidFill>
                            <a:srgbClr val="E2F5EC"/>
                          </a:solidFill>
                          <a:latin typeface="Arial"/>
                        </a:defRPr>
                      </a:pPr>
                      <a:r>
                        <a:t>Six workshops</a:t>
                      </a:r>
                    </a:p>
                  </a:txBody>
                  <a:tcPr>
                    <a:solidFill>
                      <a:srgbClr val="09261B"/>
                    </a:solidFill>
                  </a:tcPr>
                </a:tc>
                <a:tc>
                  <a:txBody>
                    <a:bodyPr/>
                    <a:lstStyle/>
                    <a:p>
                      <a:pPr>
                        <a:defRPr sz="950">
                          <a:solidFill>
                            <a:srgbClr val="E2F5EC"/>
                          </a:solidFill>
                          <a:latin typeface="Arial"/>
                        </a:defRPr>
                      </a:pPr>
                      <a:r>
                        <a:t>9,000</a:t>
                      </a:r>
                    </a:p>
                  </a:txBody>
                  <a:tcPr>
                    <a:solidFill>
                      <a:srgbClr val="09261B"/>
                    </a:solidFill>
                  </a:tcPr>
                </a:tc>
              </a:tr>
              <a:tr h="390698">
                <a:tc>
                  <a:txBody>
                    <a:bodyPr/>
                    <a:lstStyle/>
                    <a:p>
                      <a:pPr>
                        <a:defRPr sz="950">
                          <a:solidFill>
                            <a:srgbClr val="E2F5EC"/>
                          </a:solidFill>
                          <a:latin typeface="Arial"/>
                        </a:defRPr>
                      </a:pPr>
                      <a:r>
                        <a:t>Creator collaborations</a:t>
                      </a:r>
                    </a:p>
                  </a:txBody>
                  <a:tcPr>
                    <a:solidFill>
                      <a:srgbClr val="09261B"/>
                    </a:solidFill>
                  </a:tcPr>
                </a:tc>
                <a:tc>
                  <a:txBody>
                    <a:bodyPr/>
                    <a:lstStyle/>
                    <a:p>
                      <a:pPr>
                        <a:defRPr sz="950">
                          <a:solidFill>
                            <a:srgbClr val="E2F5EC"/>
                          </a:solidFill>
                          <a:latin typeface="Arial"/>
                        </a:defRPr>
                      </a:pPr>
                      <a:r>
                        <a:t>4,000</a:t>
                      </a:r>
                    </a:p>
                  </a:txBody>
                  <a:tcPr>
                    <a:solidFill>
                      <a:srgbClr val="09261B"/>
                    </a:solidFill>
                  </a:tcPr>
                </a:tc>
              </a:tr>
              <a:tr h="390698">
                <a:tc>
                  <a:txBody>
                    <a:bodyPr/>
                    <a:lstStyle/>
                    <a:p>
                      <a:pPr>
                        <a:defRPr sz="950">
                          <a:solidFill>
                            <a:srgbClr val="E2F5EC"/>
                          </a:solidFill>
                          <a:latin typeface="Arial"/>
                        </a:defRPr>
                      </a:pPr>
                      <a:r>
                        <a:t>Printing and QR posters</a:t>
                      </a:r>
                    </a:p>
                  </a:txBody>
                  <a:tcPr>
                    <a:solidFill>
                      <a:srgbClr val="09261B"/>
                    </a:solidFill>
                  </a:tcPr>
                </a:tc>
                <a:tc>
                  <a:txBody>
                    <a:bodyPr/>
                    <a:lstStyle/>
                    <a:p>
                      <a:pPr>
                        <a:defRPr sz="950">
                          <a:solidFill>
                            <a:srgbClr val="E2F5EC"/>
                          </a:solidFill>
                          <a:latin typeface="Arial"/>
                        </a:defRPr>
                      </a:pPr>
                      <a:r>
                        <a:t>2,000</a:t>
                      </a:r>
                    </a:p>
                  </a:txBody>
                  <a:tcPr>
                    <a:solidFill>
                      <a:srgbClr val="09261B"/>
                    </a:solidFill>
                  </a:tcPr>
                </a:tc>
              </a:tr>
              <a:tr h="390698">
                <a:tc>
                  <a:txBody>
                    <a:bodyPr/>
                    <a:lstStyle/>
                    <a:p>
                      <a:pPr>
                        <a:defRPr sz="950">
                          <a:solidFill>
                            <a:srgbClr val="E2F5EC"/>
                          </a:solidFill>
                          <a:latin typeface="Arial"/>
                        </a:defRPr>
                      </a:pPr>
                      <a:r>
                        <a:t>Partner coordination</a:t>
                      </a:r>
                    </a:p>
                  </a:txBody>
                  <a:tcPr>
                    <a:solidFill>
                      <a:srgbClr val="09261B"/>
                    </a:solidFill>
                  </a:tcPr>
                </a:tc>
                <a:tc>
                  <a:txBody>
                    <a:bodyPr/>
                    <a:lstStyle/>
                    <a:p>
                      <a:pPr>
                        <a:defRPr sz="950">
                          <a:solidFill>
                            <a:srgbClr val="E2F5EC"/>
                          </a:solidFill>
                          <a:latin typeface="Arial"/>
                        </a:defRPr>
                      </a:pPr>
                      <a:r>
                        <a:t>2,000</a:t>
                      </a:r>
                    </a:p>
                  </a:txBody>
                  <a:tcPr>
                    <a:solidFill>
                      <a:srgbClr val="09261B"/>
                    </a:solidFill>
                  </a:tcPr>
                </a:tc>
              </a:tr>
              <a:tr h="390698">
                <a:tc>
                  <a:txBody>
                    <a:bodyPr/>
                    <a:lstStyle/>
                    <a:p>
                      <a:pPr>
                        <a:defRPr sz="950">
                          <a:solidFill>
                            <a:srgbClr val="E2F5EC"/>
                          </a:solidFill>
                          <a:latin typeface="Arial"/>
                        </a:defRPr>
                      </a:pPr>
                      <a:r>
                        <a:t>Contingency</a:t>
                      </a:r>
                    </a:p>
                  </a:txBody>
                  <a:tcPr>
                    <a:solidFill>
                      <a:srgbClr val="09261B"/>
                    </a:solidFill>
                  </a:tcPr>
                </a:tc>
                <a:tc>
                  <a:txBody>
                    <a:bodyPr/>
                    <a:lstStyle/>
                    <a:p>
                      <a:pPr>
                        <a:defRPr sz="950">
                          <a:solidFill>
                            <a:srgbClr val="E2F5EC"/>
                          </a:solidFill>
                          <a:latin typeface="Arial"/>
                        </a:defRPr>
                      </a:pPr>
                      <a:r>
                        <a:t>3,000</a:t>
                      </a:r>
                    </a:p>
                  </a:txBody>
                  <a:tcPr>
                    <a:solidFill>
                      <a:srgbClr val="09261B"/>
                    </a:solidFill>
                  </a:tcPr>
                </a:tc>
              </a:tr>
              <a:tr h="390700">
                <a:tc>
                  <a:txBody>
                    <a:bodyPr/>
                    <a:lstStyle/>
                    <a:p>
                      <a:pPr>
                        <a:defRPr sz="950" b="1">
                          <a:solidFill>
                            <a:srgbClr val="FDE68A"/>
                          </a:solidFill>
                          <a:latin typeface="Arial"/>
                        </a:defRPr>
                      </a:pPr>
                      <a:r>
                        <a:t>Total</a:t>
                      </a:r>
                    </a:p>
                  </a:txBody>
                  <a:tcPr>
                    <a:solidFill>
                      <a:srgbClr val="09261B"/>
                    </a:solidFill>
                  </a:tcPr>
                </a:tc>
                <a:tc>
                  <a:txBody>
                    <a:bodyPr/>
                    <a:lstStyle/>
                    <a:p>
                      <a:pPr>
                        <a:defRPr sz="950" b="1">
                          <a:solidFill>
                            <a:srgbClr val="FDE68A"/>
                          </a:solidFill>
                          <a:latin typeface="Arial"/>
                        </a:defRPr>
                      </a:pPr>
                      <a:r>
                        <a:t>50,000</a:t>
                      </a:r>
                    </a:p>
                  </a:txBody>
                  <a:tcPr>
                    <a:solidFill>
                      <a:srgbClr val="09261B"/>
                    </a:solidFill>
                  </a:tcPr>
                </a:tc>
              </a:tr>
            </a:tbl>
          </a:graphicData>
        </a:graphic>
      </p:graphicFrame>
      <p:sp>
        <p:nvSpPr>
          <p:cNvPr id="6" name="Rounded Rectangle 5"/>
          <p:cNvSpPr/>
          <p:nvPr/>
        </p:nvSpPr>
        <p:spPr>
          <a:xfrm>
            <a:off x="6858000" y="1371600"/>
            <a:ext cx="4602175"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0" y="1645920"/>
            <a:ext cx="4053535" cy="4206240"/>
          </a:xfrm>
          <a:prstGeom prst="rect">
            <a:avLst/>
          </a:prstGeom>
          <a:noFill/>
        </p:spPr>
        <p:txBody>
          <a:bodyPr wrap="square">
            <a:spAutoFit/>
          </a:bodyPr>
          <a:lstStyle/>
          <a:p>
            <a:pPr>
              <a:defRPr sz="1400" b="1">
                <a:solidFill>
                  <a:srgbClr val="A7F3D0"/>
                </a:solidFill>
                <a:latin typeface="Montserrat"/>
              </a:defRPr>
            </a:pPr>
            <a:r>
              <a:t>COST CONTROL GUIDELINES</a:t>
            </a:r>
          </a:p>
          <a:p>
            <a:pPr>
              <a:spcBef>
                <a:spcPts val="1400"/>
              </a:spcBef>
              <a:defRPr sz="1100">
                <a:solidFill>
                  <a:srgbClr val="E2F5EC"/>
                </a:solidFill>
                <a:latin typeface="Arial"/>
              </a:defRPr>
            </a:pPr>
            <a:r>
              <a:t>• Seek free venues, volunteer speakers and promotion through partner networks.</a:t>
            </a:r>
          </a:p>
          <a:p>
            <a:pPr>
              <a:spcBef>
                <a:spcPts val="1400"/>
              </a:spcBef>
              <a:defRPr sz="1100">
                <a:solidFill>
                  <a:srgbClr val="E2F5EC"/>
                </a:solidFill>
                <a:latin typeface="Arial"/>
              </a:defRPr>
            </a:pPr>
            <a:r>
              <a:t>• Use existing YFWD staff and reusable materials to control costs.</a:t>
            </a:r>
          </a:p>
          <a:p>
            <a:pPr>
              <a:spcBef>
                <a:spcPts val="1400"/>
              </a:spcBef>
              <a:defRPr sz="1100">
                <a:solidFill>
                  <a:srgbClr val="E2F5EC"/>
                </a:solidFill>
                <a:latin typeface="Arial"/>
              </a:defRPr>
            </a:pPr>
            <a:r>
              <a:t>• Confirm supplier prices before spending and review the budget monthly.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AKBAR’S PART • 3. OBJECTIVES</a:t>
            </a:r>
          </a:p>
          <a:p>
            <a:pPr>
              <a:spcBef>
                <a:spcPts val="300"/>
              </a:spcBef>
              <a:defRPr sz="2200" b="1">
                <a:solidFill>
                  <a:srgbClr val="FFFFFF"/>
                </a:solidFill>
                <a:latin typeface="Montserrat"/>
              </a:defRPr>
            </a:pPr>
            <a:r>
              <a:t>SMART CAMPAIGN OBJECTIVES</a:t>
            </a:r>
          </a:p>
        </p:txBody>
      </p:sp>
      <p:sp>
        <p:nvSpPr>
          <p:cNvPr id="4" name="Rounded Rectangle 3"/>
          <p:cNvSpPr/>
          <p:nvPr/>
        </p:nvSpPr>
        <p:spPr>
          <a:xfrm>
            <a:off x="731520" y="1325880"/>
            <a:ext cx="10728655" cy="59436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10362895" cy="457200"/>
          </a:xfrm>
          <a:prstGeom prst="rect">
            <a:avLst/>
          </a:prstGeom>
          <a:noFill/>
        </p:spPr>
        <p:txBody>
          <a:bodyPr wrap="none">
            <a:spAutoFit/>
          </a:bodyPr>
          <a:lstStyle/>
          <a:p>
            <a:pPr>
              <a:defRPr sz="1200">
                <a:solidFill>
                  <a:srgbClr val="E2F5EC"/>
                </a:solidFill>
                <a:latin typeface="Arial"/>
              </a:defRPr>
            </a:pPr>
            <a:r>
              <a:t>To support the Educate, Equip, Connect strategy, the campaign establishes three SMART objectives:</a:t>
            </a:r>
          </a:p>
        </p:txBody>
      </p:sp>
      <p:sp>
        <p:nvSpPr>
          <p:cNvPr id="6" name="Rounded Rectangle 5"/>
          <p:cNvSpPr/>
          <p:nvPr/>
        </p:nvSpPr>
        <p:spPr>
          <a:xfrm>
            <a:off x="731520" y="2057400"/>
            <a:ext cx="3401568" cy="40690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40280"/>
            <a:ext cx="2944368" cy="3657600"/>
          </a:xfrm>
          <a:prstGeom prst="rect">
            <a:avLst/>
          </a:prstGeom>
          <a:noFill/>
        </p:spPr>
        <p:txBody>
          <a:bodyPr wrap="square">
            <a:spAutoFit/>
          </a:bodyPr>
          <a:lstStyle/>
          <a:p>
            <a:pPr>
              <a:defRPr sz="1200" b="1">
                <a:solidFill>
                  <a:srgbClr val="A7F3D0"/>
                </a:solidFill>
                <a:latin typeface="Montserrat"/>
              </a:defRPr>
            </a:pPr>
            <a:r>
              <a:t>Objective 1 (Awareness / Educate):</a:t>
            </a:r>
          </a:p>
          <a:p>
            <a:pPr>
              <a:spcBef>
                <a:spcPts val="1000"/>
              </a:spcBef>
              <a:defRPr sz="1100">
                <a:solidFill>
                  <a:srgbClr val="E2F5EC"/>
                </a:solidFill>
                <a:latin typeface="Arial"/>
              </a:defRPr>
            </a:pPr>
            <a:r>
              <a:t>To increase awareness of financial literacy and YFWD support resources among Dubai residents aged 25–34 by achieving 150,000 total impressions and a 4% average engagement rate on Instagram and TikTok campaign content within 6 months of launch.</a:t>
            </a:r>
          </a:p>
        </p:txBody>
      </p:sp>
      <p:sp>
        <p:nvSpPr>
          <p:cNvPr id="8" name="Rounded Rectangle 7"/>
          <p:cNvSpPr/>
          <p:nvPr/>
        </p:nvSpPr>
        <p:spPr>
          <a:xfrm>
            <a:off x="4389120" y="2057400"/>
            <a:ext cx="3401568" cy="40690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2240280"/>
            <a:ext cx="2944368" cy="3657600"/>
          </a:xfrm>
          <a:prstGeom prst="rect">
            <a:avLst/>
          </a:prstGeom>
          <a:noFill/>
        </p:spPr>
        <p:txBody>
          <a:bodyPr wrap="square">
            <a:spAutoFit/>
          </a:bodyPr>
          <a:lstStyle/>
          <a:p>
            <a:pPr>
              <a:defRPr sz="1200" b="1">
                <a:solidFill>
                  <a:srgbClr val="A7F3D0"/>
                </a:solidFill>
                <a:latin typeface="Montserrat"/>
              </a:defRPr>
            </a:pPr>
            <a:r>
              <a:t>Objective 2 (Behavioral Change / Equip):</a:t>
            </a:r>
          </a:p>
          <a:p>
            <a:pPr>
              <a:spcBef>
                <a:spcPts val="1000"/>
              </a:spcBef>
              <a:defRPr sz="1100">
                <a:solidFill>
                  <a:srgbClr val="E2F5EC"/>
                </a:solidFill>
                <a:latin typeface="Arial"/>
              </a:defRPr>
            </a:pPr>
            <a:r>
              <a:t>To drive 5,000 downloads or active uses of the campaign webpage’s free budget planner and guides, and to enroll 1,000 young professionals in the "30-Day Budget Challenge" within 12 months.</a:t>
            </a:r>
          </a:p>
        </p:txBody>
      </p:sp>
      <p:sp>
        <p:nvSpPr>
          <p:cNvPr id="10" name="Rounded Rectangle 9"/>
          <p:cNvSpPr/>
          <p:nvPr/>
        </p:nvSpPr>
        <p:spPr>
          <a:xfrm>
            <a:off x="8046720" y="2057400"/>
            <a:ext cx="3401568" cy="40690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2240280"/>
            <a:ext cx="2944368" cy="3657600"/>
          </a:xfrm>
          <a:prstGeom prst="rect">
            <a:avLst/>
          </a:prstGeom>
          <a:noFill/>
        </p:spPr>
        <p:txBody>
          <a:bodyPr wrap="square">
            <a:spAutoFit/>
          </a:bodyPr>
          <a:lstStyle/>
          <a:p>
            <a:pPr>
              <a:defRPr sz="1200" b="1">
                <a:solidFill>
                  <a:srgbClr val="A7F3D0"/>
                </a:solidFill>
                <a:latin typeface="Montserrat"/>
              </a:defRPr>
            </a:pPr>
            <a:r>
              <a:t>Objective 3 (Partnership &amp; Engagement / Connect):</a:t>
            </a:r>
          </a:p>
          <a:p>
            <a:pPr>
              <a:spcBef>
                <a:spcPts val="1000"/>
              </a:spcBef>
              <a:defRPr sz="1100">
                <a:solidFill>
                  <a:srgbClr val="E2F5EC"/>
                </a:solidFill>
                <a:latin typeface="Arial"/>
              </a:defRPr>
            </a:pPr>
            <a:r>
              <a:t>To engage at least 300 total participants across six interactive workshops and establish at least 4 active cost-saving partnerships (e.g., Zywa, Fazaa, rental/lifestyle platforms) by the end of the 12-month campaign period.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AKBAR’S PART • 10. EVALUATION AND MODIFICATIONS</a:t>
            </a:r>
          </a:p>
          <a:p>
            <a:pPr>
              <a:spcBef>
                <a:spcPts val="300"/>
              </a:spcBef>
              <a:defRPr sz="2200" b="1">
                <a:solidFill>
                  <a:srgbClr val="FFFFFF"/>
                </a:solidFill>
                <a:latin typeface="Montserrat"/>
              </a:defRPr>
            </a:pPr>
            <a:r>
              <a:t>BEGINNING: BASELINE EVALUATION (FORMATIVE)</a:t>
            </a:r>
          </a:p>
        </p:txBody>
      </p:sp>
      <p:sp>
        <p:nvSpPr>
          <p:cNvPr id="4" name="Rounded Rectangle 3"/>
          <p:cNvSpPr/>
          <p:nvPr/>
        </p:nvSpPr>
        <p:spPr>
          <a:xfrm>
            <a:off x="731520" y="1325880"/>
            <a:ext cx="10728655" cy="77724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10362895" cy="594360"/>
          </a:xfrm>
          <a:prstGeom prst="rect">
            <a:avLst/>
          </a:prstGeom>
          <a:noFill/>
        </p:spPr>
        <p:txBody>
          <a:bodyPr wrap="square">
            <a:spAutoFit/>
          </a:bodyPr>
          <a:lstStyle/>
          <a:p>
            <a:pPr>
              <a:defRPr sz="1150">
                <a:solidFill>
                  <a:srgbClr val="E2F5EC"/>
                </a:solidFill>
                <a:latin typeface="Arial"/>
              </a:defRPr>
            </a:pPr>
            <a:r>
              <a:t>Evaluation is conducted continuously across three distinct phases: Beginning (Formative Research), Middle (Process Evaluation &amp; Modification), and End (Summative Evaluation), to ensure the AED 50,000 budget delivers maximum impact and meets all campaign objectives.</a:t>
            </a:r>
          </a:p>
        </p:txBody>
      </p:sp>
      <p:sp>
        <p:nvSpPr>
          <p:cNvPr id="6" name="Rounded Rectangle 5"/>
          <p:cNvSpPr/>
          <p:nvPr/>
        </p:nvSpPr>
        <p:spPr>
          <a:xfrm>
            <a:off x="731520" y="2286000"/>
            <a:ext cx="5212080" cy="38404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560320"/>
            <a:ext cx="4663440" cy="3291840"/>
          </a:xfrm>
          <a:prstGeom prst="rect">
            <a:avLst/>
          </a:prstGeom>
          <a:noFill/>
        </p:spPr>
        <p:txBody>
          <a:bodyPr wrap="square">
            <a:spAutoFit/>
          </a:bodyPr>
          <a:lstStyle/>
          <a:p>
            <a:pPr>
              <a:defRPr sz="1400" b="1">
                <a:solidFill>
                  <a:srgbClr val="A7F3D0"/>
                </a:solidFill>
                <a:latin typeface="Montserrat"/>
              </a:defRPr>
            </a:pPr>
            <a:r>
              <a:t>Desktop Research &amp; Social Listening:</a:t>
            </a:r>
          </a:p>
          <a:p>
            <a:pPr>
              <a:spcBef>
                <a:spcPts val="1200"/>
              </a:spcBef>
              <a:defRPr sz="1200">
                <a:solidFill>
                  <a:srgbClr val="E2F5EC"/>
                </a:solidFill>
                <a:latin typeface="Arial"/>
              </a:defRPr>
            </a:pPr>
            <a:r>
              <a:t>Monitor online discussions, hashtags, and social media trends surrounding Dubai living costs and financial management among young professionals (aged 25–34) before launch.</a:t>
            </a:r>
          </a:p>
        </p:txBody>
      </p:sp>
      <p:sp>
        <p:nvSpPr>
          <p:cNvPr id="8" name="Rounded Rectangle 7"/>
          <p:cNvSpPr/>
          <p:nvPr/>
        </p:nvSpPr>
        <p:spPr>
          <a:xfrm>
            <a:off x="6248095" y="2286000"/>
            <a:ext cx="5212080" cy="38404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22415" y="2560320"/>
            <a:ext cx="4663440" cy="3291840"/>
          </a:xfrm>
          <a:prstGeom prst="rect">
            <a:avLst/>
          </a:prstGeom>
          <a:noFill/>
        </p:spPr>
        <p:txBody>
          <a:bodyPr wrap="square">
            <a:spAutoFit/>
          </a:bodyPr>
          <a:lstStyle/>
          <a:p>
            <a:pPr>
              <a:defRPr sz="1400" b="1">
                <a:solidFill>
                  <a:srgbClr val="A7F3D0"/>
                </a:solidFill>
                <a:latin typeface="Montserrat"/>
              </a:defRPr>
            </a:pPr>
            <a:r>
              <a:t>Pre-Campaign Survey:</a:t>
            </a:r>
          </a:p>
          <a:p>
            <a:pPr>
              <a:spcBef>
                <a:spcPts val="1200"/>
              </a:spcBef>
              <a:defRPr sz="1200">
                <a:solidFill>
                  <a:srgbClr val="E2F5EC"/>
                </a:solidFill>
                <a:latin typeface="Arial"/>
              </a:defRPr>
            </a:pPr>
            <a:r>
              <a:t>Conduct a short digital baseline survey (distributed through social media and university/employer channels) to measure existing awareness levels of YFWD resources, current spending habits, and top financial stress points.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AKBAR’S PART • 10. EVALUATION AND MODIFICATIONS</a:t>
            </a:r>
          </a:p>
          <a:p>
            <a:pPr>
              <a:spcBef>
                <a:spcPts val="300"/>
              </a:spcBef>
              <a:defRPr sz="2200" b="1">
                <a:solidFill>
                  <a:srgbClr val="FFFFFF"/>
                </a:solidFill>
                <a:latin typeface="Montserrat"/>
              </a:defRPr>
            </a:pPr>
            <a:r>
              <a:t>MIDDLE: ONGOING MONITORING &amp; MODIFICATION (PROCESS EVALUATION)</a:t>
            </a:r>
          </a:p>
        </p:txBody>
      </p:sp>
      <p:sp>
        <p:nvSpPr>
          <p:cNvPr id="4" name="Rounded Rectangle 3"/>
          <p:cNvSpPr/>
          <p:nvPr/>
        </p:nvSpPr>
        <p:spPr>
          <a:xfrm>
            <a:off x="7315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45920"/>
            <a:ext cx="2944368" cy="4206240"/>
          </a:xfrm>
          <a:prstGeom prst="rect">
            <a:avLst/>
          </a:prstGeom>
          <a:noFill/>
        </p:spPr>
        <p:txBody>
          <a:bodyPr wrap="square">
            <a:spAutoFit/>
          </a:bodyPr>
          <a:lstStyle/>
          <a:p>
            <a:pPr>
              <a:defRPr sz="1300" b="1">
                <a:solidFill>
                  <a:srgbClr val="A7F3D0"/>
                </a:solidFill>
                <a:latin typeface="Montserrat"/>
              </a:defRPr>
            </a:pPr>
            <a:r>
              <a:t>Monthly Social Media Analytics:</a:t>
            </a:r>
          </a:p>
          <a:p>
            <a:pPr>
              <a:spcBef>
                <a:spcPts val="1000"/>
              </a:spcBef>
              <a:defRPr sz="1100">
                <a:solidFill>
                  <a:srgbClr val="E2F5EC"/>
                </a:solidFill>
                <a:latin typeface="Arial"/>
              </a:defRPr>
            </a:pPr>
            <a:r>
              <a:t>Track reach, engagement, click-through rates, and follower growth on Instagram and TikTok. If engagement falls below the target 4%, pivot content formats toward higher-performing Reels, creator collaborations, or interactive polls.</a:t>
            </a:r>
          </a:p>
        </p:txBody>
      </p:sp>
      <p:sp>
        <p:nvSpPr>
          <p:cNvPr id="6" name="Rounded Rectangle 5"/>
          <p:cNvSpPr/>
          <p:nvPr/>
        </p:nvSpPr>
        <p:spPr>
          <a:xfrm>
            <a:off x="43891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645920"/>
            <a:ext cx="2944368" cy="4206240"/>
          </a:xfrm>
          <a:prstGeom prst="rect">
            <a:avLst/>
          </a:prstGeom>
          <a:noFill/>
        </p:spPr>
        <p:txBody>
          <a:bodyPr wrap="square">
            <a:spAutoFit/>
          </a:bodyPr>
          <a:lstStyle/>
          <a:p>
            <a:pPr>
              <a:defRPr sz="1300" b="1">
                <a:solidFill>
                  <a:srgbClr val="A7F3D0"/>
                </a:solidFill>
                <a:latin typeface="Montserrat"/>
              </a:defRPr>
            </a:pPr>
            <a:r>
              <a:t>Webpage &amp; Tool Tracking:</a:t>
            </a:r>
          </a:p>
          <a:p>
            <a:pPr>
              <a:spcBef>
                <a:spcPts val="1000"/>
              </a:spcBef>
              <a:defRPr sz="1100">
                <a:solidFill>
                  <a:srgbClr val="E2F5EC"/>
                </a:solidFill>
                <a:latin typeface="Arial"/>
              </a:defRPr>
            </a:pPr>
            <a:r>
              <a:t>Use Google Analytics to track visits to the campaign webpage, QR code scans from posters, downloads of the budget planner tool, and completion rates for the "30-Day Budget Challenge."</a:t>
            </a:r>
          </a:p>
        </p:txBody>
      </p:sp>
      <p:sp>
        <p:nvSpPr>
          <p:cNvPr id="8" name="Rounded Rectangle 7"/>
          <p:cNvSpPr/>
          <p:nvPr/>
        </p:nvSpPr>
        <p:spPr>
          <a:xfrm>
            <a:off x="80467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645920"/>
            <a:ext cx="2944368" cy="4206240"/>
          </a:xfrm>
          <a:prstGeom prst="rect">
            <a:avLst/>
          </a:prstGeom>
          <a:noFill/>
        </p:spPr>
        <p:txBody>
          <a:bodyPr wrap="square">
            <a:spAutoFit/>
          </a:bodyPr>
          <a:lstStyle/>
          <a:p>
            <a:pPr>
              <a:defRPr sz="1300" b="1">
                <a:solidFill>
                  <a:srgbClr val="A7F3D0"/>
                </a:solidFill>
                <a:latin typeface="Montserrat"/>
              </a:defRPr>
            </a:pPr>
            <a:r>
              <a:t>Mid-Campaign Review (Month 6):</a:t>
            </a:r>
          </a:p>
          <a:p>
            <a:pPr>
              <a:spcBef>
                <a:spcPts val="1000"/>
              </a:spcBef>
              <a:defRPr sz="1100">
                <a:solidFill>
                  <a:srgbClr val="E2F5EC"/>
                </a:solidFill>
                <a:latin typeface="Arial"/>
              </a:defRPr>
            </a:pPr>
            <a:r>
              <a:t>Assess workshop attendance and feedback forms. Reallocate unused portions of the AED 3,000 contingency budget toward higher-performing tactics (e.g., boosting social media advertising if web traffic needs a push).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ubai_emerald_skyline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728655" cy="868680"/>
          </a:xfrm>
          <a:prstGeom prst="rect">
            <a:avLst/>
          </a:prstGeom>
          <a:noFill/>
        </p:spPr>
        <p:txBody>
          <a:bodyPr wrap="square" lIns="0" tIns="0" rIns="0" bIns="0">
            <a:spAutoFit/>
          </a:bodyPr>
          <a:lstStyle/>
          <a:p>
            <a:pPr>
              <a:defRPr sz="1050" b="1">
                <a:solidFill>
                  <a:srgbClr val="A7F3D0"/>
                </a:solidFill>
                <a:latin typeface="Montserrat"/>
              </a:defRPr>
            </a:pPr>
            <a:r>
              <a:t>AKBAR’S PART • 10. EVALUATION AND MODIFICATIONS</a:t>
            </a:r>
          </a:p>
          <a:p>
            <a:pPr>
              <a:spcBef>
                <a:spcPts val="300"/>
              </a:spcBef>
              <a:defRPr sz="2200" b="1">
                <a:solidFill>
                  <a:srgbClr val="FFFFFF"/>
                </a:solidFill>
                <a:latin typeface="Montserrat"/>
              </a:defRPr>
            </a:pPr>
            <a:r>
              <a:t>END: FINAL MEASUREMENT (SUMMATIVE EVALUATION)</a:t>
            </a:r>
          </a:p>
        </p:txBody>
      </p:sp>
      <p:sp>
        <p:nvSpPr>
          <p:cNvPr id="4" name="Rounded Rectangle 3"/>
          <p:cNvSpPr/>
          <p:nvPr/>
        </p:nvSpPr>
        <p:spPr>
          <a:xfrm>
            <a:off x="7315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45920"/>
            <a:ext cx="2944368" cy="4206240"/>
          </a:xfrm>
          <a:prstGeom prst="rect">
            <a:avLst/>
          </a:prstGeom>
          <a:noFill/>
        </p:spPr>
        <p:txBody>
          <a:bodyPr wrap="square">
            <a:spAutoFit/>
          </a:bodyPr>
          <a:lstStyle/>
          <a:p>
            <a:pPr>
              <a:defRPr sz="1300" b="1">
                <a:solidFill>
                  <a:srgbClr val="A7F3D0"/>
                </a:solidFill>
                <a:latin typeface="Montserrat"/>
              </a:defRPr>
            </a:pPr>
            <a:r>
              <a:t>Post-Campaign Survey:</a:t>
            </a:r>
          </a:p>
          <a:p>
            <a:pPr>
              <a:spcBef>
                <a:spcPts val="1000"/>
              </a:spcBef>
              <a:defRPr sz="1100">
                <a:solidFill>
                  <a:srgbClr val="E2F5EC"/>
                </a:solidFill>
                <a:latin typeface="Arial"/>
              </a:defRPr>
            </a:pPr>
            <a:r>
              <a:t>Re-run the digital survey at Month 12 to measure shifts in financial awareness, self-reported saving behavior, and perception of YFWD as a trusted financial guidance source.</a:t>
            </a:r>
          </a:p>
        </p:txBody>
      </p:sp>
      <p:sp>
        <p:nvSpPr>
          <p:cNvPr id="6" name="Rounded Rectangle 5"/>
          <p:cNvSpPr/>
          <p:nvPr/>
        </p:nvSpPr>
        <p:spPr>
          <a:xfrm>
            <a:off x="43891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645920"/>
            <a:ext cx="2944368" cy="4206240"/>
          </a:xfrm>
          <a:prstGeom prst="rect">
            <a:avLst/>
          </a:prstGeom>
          <a:noFill/>
        </p:spPr>
        <p:txBody>
          <a:bodyPr wrap="square">
            <a:spAutoFit/>
          </a:bodyPr>
          <a:lstStyle/>
          <a:p>
            <a:pPr>
              <a:defRPr sz="1300" b="1">
                <a:solidFill>
                  <a:srgbClr val="A7F3D0"/>
                </a:solidFill>
                <a:latin typeface="Montserrat"/>
              </a:defRPr>
            </a:pPr>
            <a:r>
              <a:t>SMART Objective Audit:</a:t>
            </a:r>
          </a:p>
          <a:p>
            <a:pPr>
              <a:spcBef>
                <a:spcPts val="1000"/>
              </a:spcBef>
              <a:defRPr sz="1100">
                <a:solidFill>
                  <a:srgbClr val="E2F5EC"/>
                </a:solidFill>
                <a:latin typeface="Arial"/>
              </a:defRPr>
            </a:pPr>
            <a:r>
              <a:t>• Awareness: Total social media impressions vs. target (150,000).</a:t>
            </a:r>
            <a:br/>
            <a:br/>
            <a:r>
              <a:t>• Equip/Behavior: Total budget planner downloads (Target: 5,000) and 30-Day Challenge participants (Target: 1,000).</a:t>
            </a:r>
            <a:br/>
            <a:br/>
            <a:r>
              <a:t>• Connect: Total workshop attendance (Target: 300) and signed/active partner offers (Target: 4).</a:t>
            </a:r>
          </a:p>
        </p:txBody>
      </p:sp>
      <p:sp>
        <p:nvSpPr>
          <p:cNvPr id="8" name="Rounded Rectangle 7"/>
          <p:cNvSpPr/>
          <p:nvPr/>
        </p:nvSpPr>
        <p:spPr>
          <a:xfrm>
            <a:off x="8046720" y="1371600"/>
            <a:ext cx="3401568" cy="4754880"/>
          </a:xfrm>
          <a:prstGeom prst="roundRect">
            <a:avLst/>
          </a:prstGeom>
          <a:solidFill>
            <a:srgbClr val="09261B"/>
          </a:solidFill>
          <a:ln w="12700">
            <a:solidFill>
              <a:srgbClr val="286E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645920"/>
            <a:ext cx="2944368" cy="4206240"/>
          </a:xfrm>
          <a:prstGeom prst="rect">
            <a:avLst/>
          </a:prstGeom>
          <a:noFill/>
        </p:spPr>
        <p:txBody>
          <a:bodyPr wrap="square">
            <a:spAutoFit/>
          </a:bodyPr>
          <a:lstStyle/>
          <a:p>
            <a:pPr>
              <a:defRPr sz="1300" b="1">
                <a:solidFill>
                  <a:srgbClr val="A7F3D0"/>
                </a:solidFill>
                <a:latin typeface="Montserrat"/>
              </a:defRPr>
            </a:pPr>
            <a:r>
              <a:t>ROI &amp; Future Planning:</a:t>
            </a:r>
          </a:p>
          <a:p>
            <a:pPr>
              <a:spcBef>
                <a:spcPts val="1000"/>
              </a:spcBef>
              <a:defRPr sz="1100">
                <a:solidFill>
                  <a:srgbClr val="E2F5EC"/>
                </a:solidFill>
                <a:latin typeface="Arial"/>
              </a:defRPr>
            </a:pPr>
            <a:r>
              <a:t>Summarize campaign reach per AED spent and compile a final evaluation report with recommendations for YFWD's long-term financial literacy initiatives.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
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we present 'Dubai Life. Smarter Finances.'—a 12-month strategic communication plan designed for the Youth Financial Well-being Dubai (YFWD). Dubai is thriving, with hundreds moving in daily, yet young residents aged 25–34 face severe cost-of-living pressures. Our mission is to bridge the gap between rising costs and existing institutional support using our proven Educate-Equip-Connect model with a lean AED 50,000 budget.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188720"/>
            <a:ext cx="4114800" cy="484632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63040"/>
            <a:ext cx="3566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FFFFFF"/>
                </a:solidFill>
              </a:defRPr>
            </a:pPr>
            <a:r>
              <a:t>EXECUTIVE MANDATE</a:t>
            </a:r>
          </a:p>
          <a:p>
            <a:pPr>
              <a:spcBef>
                <a:spcPts val="1200"/>
              </a:spcBef>
              <a:defRPr sz="2800" b="1">
                <a:solidFill>
                  <a:srgbClr val="FFFFFF"/>
                </a:solidFill>
              </a:defRPr>
            </a:pPr>
            <a:r>
              <a:t>DUBAI LIFE.</a:t>
            </a:r>
            <a:br/>
            <a:r>
              <a:t>SMARTER FINANCES.</a:t>
            </a:r>
          </a:p>
          <a:p>
            <a:pPr>
              <a:spcBef>
                <a:spcPts val="1400"/>
              </a:spcBef>
              <a:defRPr sz="1150">
                <a:solidFill>
                  <a:srgbClr val="FFFFFF"/>
                </a:solidFill>
              </a:defRPr>
            </a:pPr>
            <a:r>
              <a:t>A regulated behavioral-change and financial literacy framework empowering Dubai's 25–34 generation through the Educate-Equip-Connect methodology.</a:t>
            </a:r>
          </a:p>
          <a:p>
            <a:pPr>
              <a:spcBef>
                <a:spcPts val="2400"/>
              </a:spcBef>
              <a:defRPr sz="1000" b="1">
                <a:solidFill>
                  <a:srgbClr val="FFFFFF"/>
                </a:solidFill>
              </a:defRPr>
            </a:pPr>
            <a:r>
              <a:t>12-MONTH PLAN  •  AED 50,000 TOTAL BUDGET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1188720"/>
            <a:ext cx="3063240" cy="2331720"/>
          </a:xfrm>
          <a:prstGeom prst="rect">
            <a:avLst/>
          </a:prstGeom>
          <a:solidFill>
            <a:srgbClr val="0E1526"/>
          </a:solidFill>
          <a:ln w="19050">
            <a:solidFill>
              <a:srgbClr val="005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49240" y="1371600"/>
            <a:ext cx="2606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SECTION 01 • LAREB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MARKET REALITIES &amp; PRESSURES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470 daily newcomers, +6% rent inflation forecast, AED 6 Salik peak tolls, and AECB BNPL credit reporting integration.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366760" y="1188720"/>
            <a:ext cx="3063240" cy="2331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0" y="1371600"/>
            <a:ext cx="2606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SECTION 02 • GLEB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AUDIENCE &amp; REALLOCATION MODEL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Dubai residents 25–34, persona Rayan, Educate-Equip-Connect strategy, and unlocking AED 460/mo (+92% savings).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703320"/>
            <a:ext cx="3063240" cy="2331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49240" y="3886200"/>
            <a:ext cx="2606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SECTION 03 • AMALIYA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TACTICS, CHANNELS &amp; BUDGET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2x weekly reels, 6 interactive workshops, free web portal, 30-Day challenge, Zywa/Fazaa deals, and AED 50k budget.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3703320"/>
            <a:ext cx="3063240" cy="2331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0" y="3886200"/>
            <a:ext cx="26060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SECTION 04 • AKBAR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SMART TARGETS &amp; CONTINUOUS AUDIT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150K impressions (4% CTR), 5K tool downloads, 1K challenge participants, and 3-phase formative/process/summative review.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EXECUTIVE OVERVIEW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ONE PLATFORM. THREE PERSPECTIVES.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52FF"/>
                </a:solidFill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THE CHALLENGE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MACRO SQUEEZE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470 daily newcomers outpace housing supply. Rents climbing 6% with flat wages, Salik tolls +50%, and everyday BNPL installments registered on UAE credit bureau files.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65576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94176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THE AUDIENCE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YOUTH 25–34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Young professionals, fresh university graduates, and private tenants navigating independent living expenses, lifestyle inflation, and social media peer pressure.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371600"/>
            <a:ext cx="2514600" cy="466344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THE STRATEGY</a:t>
            </a:r>
          </a:p>
          <a:p>
            <a:pPr>
              <a:spcBef>
                <a:spcPts val="200"/>
              </a:spcBef>
              <a:defRPr sz="950" b="1">
                <a:solidFill>
                  <a:srgbClr val="FFFFFF"/>
                </a:solidFill>
              </a:defRPr>
            </a:pPr>
            <a:r>
              <a:t>TRIAD ARCHITECTURE</a:t>
            </a:r>
          </a:p>
          <a:p>
            <a:pPr>
              <a:spcBef>
                <a:spcPts val="1200"/>
              </a:spcBef>
              <a:defRPr sz="1050">
                <a:solidFill>
                  <a:srgbClr val="FFFFFF"/>
                </a:solidFill>
              </a:defRPr>
            </a:pPr>
            <a:r>
              <a:t>Demystifying institutional tools (Educate), providing interactive web planners &amp; 30-Day challenge (Equip), and unlocking Zywa &amp; Fazaa discounts (Connect).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33688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62288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052FF"/>
                </a:solidFill>
              </a:defRPr>
            </a:pPr>
            <a:r>
              <a:t>04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THE IMPACT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AED 50K CAPITAL ROI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150K impressions, 5,000 tool downloads, 1,000 active budget savers, 300 workshop attendees, and 4 institutional commercial partnerships in 12 months.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LAREB'S PART • SECTION 1: BACKGROUND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A MARKET SQUEEZED ACROSS ALL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DEMOGRAPHIC PRESSURE</a:t>
            </a:r>
          </a:p>
          <a:p>
            <a:pPr>
              <a:spcBef>
                <a:spcPts val="600"/>
              </a:spcBef>
              <a:defRPr sz="3600" b="1">
                <a:solidFill>
                  <a:srgbClr val="0052FF"/>
                </a:solidFill>
              </a:defRPr>
            </a:pPr>
            <a:r>
              <a:t>470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Daily Influx (The National, 2025)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Dubai's population is expanding faster than housing completions, driving sustained rental demand and occupancy pressure in tenant districts.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3465576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94176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HOUSING VS WAGE GAP</a:t>
            </a:r>
          </a:p>
          <a:p>
            <a:pPr>
              <a:spcBef>
                <a:spcPts val="600"/>
              </a:spcBef>
              <a:defRPr sz="3600" b="1">
                <a:solidFill>
                  <a:srgbClr val="FFFFFF"/>
                </a:solidFill>
              </a:defRPr>
            </a:pPr>
            <a:r>
              <a:t>+6%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2026 Rent Rise vs 0% Salary Growth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Residential rents projected up by up to 6% in 2026 (Abbas, 2025), while average salaries saw 0% increase in 2025 (ValuStrat, 2025).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COMMUTING OVERHEAD</a:t>
            </a:r>
          </a:p>
          <a:p>
            <a:pPr>
              <a:spcBef>
                <a:spcPts val="600"/>
              </a:spcBef>
              <a:defRPr sz="3600" b="1">
                <a:solidFill>
                  <a:srgbClr val="0052FF"/>
                </a:solidFill>
              </a:defRPr>
            </a:pPr>
            <a:r>
              <a:t>AED 6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Peak Salik Toll (+50% Increase)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Peak-hour Salik gates increased from AED 4 to AED 6 (Gulf Business, 2024), adding up to AED 480–520 monthly in unavoidable commuting tolls.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933688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62288" y="1554480"/>
            <a:ext cx="2057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HIDDEN CREDIT RISK</a:t>
            </a:r>
          </a:p>
          <a:p>
            <a:pPr>
              <a:spcBef>
                <a:spcPts val="600"/>
              </a:spcBef>
              <a:defRPr sz="3600" b="1">
                <a:solidFill>
                  <a:srgbClr val="EF4444"/>
                </a:solidFill>
              </a:defRPr>
            </a:pPr>
            <a:r>
              <a:t>AECB</a:t>
            </a:r>
          </a:p>
          <a:p>
            <a:pPr>
              <a:spcBef>
                <a:spcPts val="200"/>
              </a:spcBef>
              <a:defRPr sz="1000" b="1">
                <a:solidFill>
                  <a:srgbClr val="94A3B8"/>
                </a:solidFill>
              </a:defRPr>
            </a:pPr>
            <a:r>
              <a:t>BNPL Installments on Credit Bureau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Tabby &amp; Tamara BNPL purchases are now reported to the Etihad Credit Bureau (Gulf News, 2026), directly damaging future loan and rental approvals.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LAREB'S PART • SECTION 2: PROBLEMS &amp; OPPORTUNITIES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THE INFORMATION PARADOX: PROBLEM VS.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THE COMMUNICATION PROBLEM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LOW INSTITUTIONAL AWARENESS &amp; VIRAL MISINFORMATION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✕  Information Asymmetry: Official tools like the DLD Rental Index and AECB credit reports exist, but young adults do not know they exist.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✕  Unregulated Social Media Flex: Youth rely on TikTok/IG where unverified influencers promote get-rich-quick schemes, prompting UAE authorities to license finance influencers (Issa, 2025).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✕  Unconscious Spending Drain: Daily food deliveries, peak Salik tolls, and unmonitored subscriptions accumulate silently into hundreds of lost dirhams monthly.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8095" y="1371600"/>
            <a:ext cx="5212080" cy="466344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22415" y="155448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FFFFFF"/>
                </a:solidFill>
              </a:defRPr>
            </a:pPr>
            <a:r>
              <a:t>THE STRATEGIC OPPORTUNITY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YFWD AS THE TRUSTED PUBLIC ADVOCATE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✓  Early Preventive Public Mandate: Intervene proactively before living cost pressures become unmanageable social strain.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✓  Meet Youth on Native Digital Channels: Deliver verified, accredited micro-learning directly on TikTok and Instagram using licensed UAE financial creators.</a:t>
            </a:r>
          </a:p>
          <a:p>
            <a:pPr>
              <a:spcBef>
                <a:spcPts val="1000"/>
              </a:spcBef>
              <a:defRPr sz="1050">
                <a:solidFill>
                  <a:srgbClr val="FFFFFF"/>
                </a:solidFill>
              </a:defRPr>
            </a:pPr>
            <a:r>
              <a:t>✓  Demystify Official UAE Infrastructure: Translate DLD rental caps, tenant rights, and credit scoring into accessible web calculators and survival toolkits.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GLEB'S PART • AUDIENCE ARCHITECTURE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TARGET PUBLICS &amp; PERSONA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41148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36576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AUDIENCE SEGMENTATION</a:t>
            </a:r>
          </a:p>
          <a:p>
            <a:pPr>
              <a:spcBef>
                <a:spcPts val="600"/>
              </a:spcBef>
              <a:defRPr sz="1300" b="1">
                <a:solidFill>
                  <a:srgbClr val="FFFFFF"/>
                </a:solidFill>
              </a:defRPr>
            </a:pPr>
            <a:r>
              <a:t>PRIMARY PUBLIC (25–34)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• Early career corporate &amp; tech employees</a:t>
            </a:r>
            <a:br/>
            <a:r>
              <a:t>• Recent university graduates entering jobs</a:t>
            </a:r>
            <a:br/>
            <a:r>
              <a:t>• Private apartment tenants facing renewals</a:t>
            </a:r>
            <a:br/>
            <a:r>
              <a:t>• Heavy consumers of vertical social video</a:t>
            </a:r>
          </a:p>
          <a:p>
            <a:pPr>
              <a:spcBef>
                <a:spcPts val="1600"/>
              </a:spcBef>
              <a:defRPr sz="1300" b="1">
                <a:solidFill>
                  <a:srgbClr val="FFFFFF"/>
                </a:solidFill>
              </a:defRPr>
            </a:pPr>
            <a:r>
              <a:t>SECONDARY PUBLICS (ENABLERS)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</a:defRPr>
            </a:pPr>
            <a:r>
              <a:t>• Universities &amp; colleges (graduate pipelines)</a:t>
            </a:r>
            <a:br/>
            <a:r>
              <a:t>• Corporate employers &amp; HR wellness divisions</a:t>
            </a:r>
            <a:br/>
            <a:r>
              <a:t>• Commercial banks, Zywa fintech &amp; Fazaa</a:t>
            </a:r>
          </a:p>
        </p:txBody>
      </p:sp>
      <p:sp>
        <p:nvSpPr>
          <p:cNvPr id="5" name="Rectangle 4"/>
          <p:cNvSpPr/>
          <p:nvPr/>
        </p:nvSpPr>
        <p:spPr>
          <a:xfrm>
            <a:off x="5120640" y="1371600"/>
            <a:ext cx="6339535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94960" y="1554480"/>
            <a:ext cx="5790895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REPRESENTATIVE PERSONA PROFILE</a:t>
            </a:r>
          </a:p>
          <a:p>
            <a:pPr>
              <a:spcBef>
                <a:spcPts val="400"/>
              </a:spcBef>
              <a:defRPr sz="1600" b="1">
                <a:solidFill>
                  <a:srgbClr val="FFFFFF"/>
                </a:solidFill>
              </a:defRPr>
            </a:pPr>
            <a:r>
              <a:t>RAYAN, 27 • MARKETING ASSOCIATE (BUSINESS BAY)</a:t>
            </a:r>
          </a:p>
          <a:p>
            <a:pPr>
              <a:spcBef>
                <a:spcPts val="200"/>
              </a:spcBef>
              <a:defRPr sz="1200" b="1">
                <a:solidFill>
                  <a:srgbClr val="0052FF"/>
                </a:solidFill>
              </a:defRPr>
            </a:pPr>
            <a:r>
              <a:t>MONTHLY NET SALARY: AED 6,000 / MO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›  Current Pressures: Rent takes 45% (AED 2,700). Food deliveries take AED 900. Salik takes AED 150. Active Tabby installments.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›  Savings Reality: Saves only AED 500/mo (8.3%). Zero emergency cushion for lease renewals. Anxious about rent increases.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›  Campaign Fit: Responds to bite-sized video hacks, free Excel budget planners, and Fazaa/Zywa verified merchant discounts.</a:t>
            </a:r>
          </a:p>
          <a:p>
            <a:pPr>
              <a:spcBef>
                <a:spcPts val="1400"/>
              </a:spcBef>
              <a:defRPr sz="1050" i="1">
                <a:solidFill>
                  <a:srgbClr val="94A3B8"/>
                </a:solidFill>
              </a:defRPr>
            </a:pPr>
            <a:r>
              <a:t>"I make good money, but at the end of the month almost nothing is left. Rents are going up, deliveries add up, and I don't know where to start saving without sacrificing my life in Dubai."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GLEB'S PART • STRATEGY &amp; MESSAGING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THE STRATEGIC TRIAD: EDUCATE • EQUIP • CONNECT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10728655" cy="100584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463040"/>
            <a:ext cx="101498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CAMPAIGN SLOGAN: "DUBAI LIFE. SMARTER FINANCES."</a:t>
            </a:r>
          </a:p>
          <a:p>
            <a:pPr>
              <a:spcBef>
                <a:spcPts val="200"/>
              </a:spcBef>
              <a:defRPr sz="1100">
                <a:solidFill>
                  <a:srgbClr val="FFFFFF"/>
                </a:solidFill>
              </a:defRPr>
            </a:pPr>
            <a:r>
              <a:t>Helping young people manage Dubai's cost of living through informed financial decisions, practical planning, and access to real cost-saving opportunities.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560320"/>
            <a:ext cx="3401568" cy="3474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743200"/>
            <a:ext cx="29443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52FF"/>
                </a:solidFill>
              </a:defRPr>
            </a:pPr>
            <a:r>
              <a:t>01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t>EDUCATE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COGNITIVE LITERACY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• 2x weekly TikTok &amp; IG reels on rent caps &amp; Salik routes</a:t>
            </a:r>
            <a:br/>
            <a:r>
              <a:t>• 6 practical workshops in universities &amp; employers</a:t>
            </a:r>
            <a:br/>
            <a:r>
              <a:t>• Partnering with licensed UAE financial creators</a:t>
            </a:r>
            <a:br/>
            <a:br/>
            <a:r>
              <a:t>Target: 150K Impressions • 4% Engagement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3401568" cy="3474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29443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52FF"/>
                </a:solidFill>
              </a:defRPr>
            </a:pPr>
            <a:r>
              <a:t>02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t>EQUIP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TOOLS FOR ACTION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• Free campaign web portal with custom Dubai Budget Planner</a:t>
            </a:r>
            <a:br/>
            <a:r>
              <a:t>• Interactive Savings Calculator for expense shifting</a:t>
            </a:r>
            <a:br/>
            <a:r>
              <a:t>• Gamified 30-Day Budget Challenge with weekly sprints</a:t>
            </a:r>
            <a:br/>
            <a:br/>
            <a:r>
              <a:t>Target: 5,000 Downloads • 1,000 Challenge Participants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2560320"/>
            <a:ext cx="3401568" cy="347472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2743200"/>
            <a:ext cx="2944368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052FF"/>
                </a:solidFill>
              </a:defRPr>
            </a:pPr>
            <a:r>
              <a:t>03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</a:defRPr>
            </a:pPr>
            <a:r>
              <a:t>CONNECT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INSTITUTIONAL DEALS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• Strategic fintech partnership with Zywa prepaid card</a:t>
            </a:r>
            <a:br/>
            <a:r>
              <a:t>• Fazaa platform integration for verified merchant deals</a:t>
            </a:r>
            <a:br/>
            <a:r>
              <a:t>• DLD rental index promotion and zero-fee bank accounts</a:t>
            </a:r>
            <a:br/>
            <a:br/>
            <a:r>
              <a:t>Target: 4 Signed Alliances • 300 Attendees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GLEB'S PART • INTERACTIVE PROOF OF CONCEPT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THE AED 6,000 SIMULATION: +92% SAVINGS SURGE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REALLOCATING AED 460 / MONTH</a:t>
            </a:r>
          </a:p>
          <a:p>
            <a:pPr>
              <a:spcBef>
                <a:spcPts val="400"/>
              </a:spcBef>
              <a:defRPr sz="1500" b="1">
                <a:solidFill>
                  <a:srgbClr val="FFFFFF"/>
                </a:solidFill>
              </a:defRPr>
            </a:pPr>
            <a:r>
              <a:t>IDENTICAL INCOME. NEARLY DOUBLE THE SAVINGS.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</a:defRPr>
            </a:pPr>
            <a:r>
              <a:t>Within an unchanged monthly income of AED 6,000, simple lifestyle optimizations reclaim AED 460 in leakage without degrading living standards:</a:t>
            </a:r>
            <a:br/>
            <a:br/>
            <a:r>
              <a:t>• Meal Prep &amp; Groceries: -AED 180 (cut 3 takeaway deliveries/wk)</a:t>
            </a:r>
            <a:br/>
            <a:r>
              <a:t>• Off-Peak Transport &amp; Metro: -AED 120 (avoid peak Salik AED 6 gates)</a:t>
            </a:r>
            <a:br/>
            <a:r>
              <a:t>• Subscription Audit: -AED 80 (cancel 2 dormant streaming/app subs)</a:t>
            </a:r>
            <a:br/>
            <a:r>
              <a:t>• Partner Discounts (Fazaa/Zywa): -AED 80 (dining &amp; retail savings)</a:t>
            </a:r>
            <a:br/>
            <a:br/>
            <a:r>
              <a:t>Result: Monthly savings surge from AED 500 to AED 960 (+92% increase!). Over 12 months, this accumulates to an extra AED 5,520 in safety buffer.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8095" y="1371600"/>
            <a:ext cx="521208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54480"/>
          <a:ext cx="490667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05840"/>
                <a:gridCol w="1005840"/>
                <a:gridCol w="1157630"/>
              </a:tblGrid>
              <a:tr h="58782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Before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After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Monthly Delta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Rent &amp; Utilities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2,700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2,700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0 (Fixed)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Food &amp; Groceries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1,300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1,120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-AED 180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Transport &amp; Salik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800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680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-AED 120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Lifestyle &amp; Subs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700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540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-AED 160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Net Monthly Savings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AED 500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AED 960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+AED 460 (+92%)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Total Budget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6,000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6,000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Net Balanced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AMALIYA'S PART • TACTICS IN ACTION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PILLAR 1: EDUCATE — CONTENT &amp; WORKSHOPS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DIGITAL CAMPAIGN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2X WEEKLY VIDEO SERIES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2x weekly short-form videos covering:</a:t>
            </a:r>
            <a:br/>
            <a:r>
              <a:t>• How to check the DLD Rental Index before lease signing.</a:t>
            </a:r>
            <a:br/>
            <a:r>
              <a:t>• Decoding your Salik bills &amp; using public transit hacks.</a:t>
            </a:r>
            <a:br/>
            <a:r>
              <a:t>• BNPL hidden penalties &amp; protecting your AECB credit score.</a:t>
            </a:r>
            <a:br/>
            <a:r>
              <a:t>• Smart supermarket grocery shopping in Dubai.</a:t>
            </a:r>
            <a:br/>
            <a:br/>
            <a:r>
              <a:t>Budget: AED 9,000 prod. + AED 10,000 paid ads.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CAMPUS &amp; WORKPLACE ROADSHOWS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SIX IN-PERSON WORKSHOPS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Delivered in partnership with UAE universities &amp; employers:</a:t>
            </a:r>
            <a:br/>
            <a:r>
              <a:t>• Free venue partnerships to eliminate facility costs.</a:t>
            </a:r>
            <a:br/>
            <a:r>
              <a:t>• Interactive roleplay: Negotiating rent renewal with landlords.</a:t>
            </a:r>
            <a:br/>
            <a:r>
              <a:t>• Guest financial advisors vetted under UAE licensing laws.</a:t>
            </a:r>
            <a:br/>
            <a:r>
              <a:t>• Target: 300+ total in-person attendees across 12 months.</a:t>
            </a:r>
            <a:br/>
            <a:br/>
            <a:r>
              <a:t>Budget: AED 9,000 (AED 1,500/workshop).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AUTHORITY &amp; TRUST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LICENSED FIN-CREATORS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Engaging 4 micro-influencers licensed under the UAE Media Council:</a:t>
            </a:r>
            <a:br/>
            <a:r>
              <a:t>• Authentic 'My First Year in Dubai' spending breakdowns.</a:t>
            </a:r>
            <a:br/>
            <a:r>
              <a:t>• Real receipts challenge: Tracking daily coffees vs metro passes.</a:t>
            </a:r>
            <a:br/>
            <a:r>
              <a:t>• Directing followers to the YFWD free budget webpage tools.</a:t>
            </a:r>
            <a:br/>
            <a:br/>
            <a:r>
              <a:t>Budget: AED 4,000 (AED 1,000/creator).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AMALIYA'S PART • TACTICS IN ACTION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PILLAR 2: EQUIP — DIGITAL TOOLS &amp; CHALLENGE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DIGITAL TOOLKIT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CAMPAIGN WEB PORTAL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Dedicated, mobile-optimized webpage.</a:t>
            </a:r>
            <a:br/>
            <a:r>
              <a:t>• Free downloadable Excel/Notion Dubai Budget Planner.</a:t>
            </a:r>
            <a:br/>
            <a:r>
              <a:t>• Interactive Savings Calculator to simulate expense tweaks.</a:t>
            </a:r>
            <a:br/>
            <a:r>
              <a:t>• Downloadable quick-reference PDF guides for renters &amp; expats.</a:t>
            </a:r>
            <a:br/>
            <a:br/>
            <a:r>
              <a:t>Budget: AED 6,000 web development.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HABIT GAMIFICATION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30-DAY BUDGET CHALLENGE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Structured 4-week micro-challenge for young professionals:</a:t>
            </a:r>
            <a:br/>
            <a:r>
              <a:t>• Week 1: Audit &amp; purge dormant subscriptions.</a:t>
            </a:r>
            <a:br/>
            <a:r>
              <a:t>• Week 2: Salik &amp; Dubai Metro route trial.</a:t>
            </a:r>
            <a:br/>
            <a:r>
              <a:t>• Week 3: Meal prep &amp; grocery discount week.</a:t>
            </a:r>
            <a:br/>
            <a:r>
              <a:t>• Week 4: Setting up an emergency cash reserve.</a:t>
            </a:r>
            <a:br/>
            <a:br/>
            <a:r>
              <a:t>Target: 1,000 active enrollments.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OFFLINE TO ONLINE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CAMPUS &amp; TRANSIT QR POSTERS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High-traffic physical placement at university campuses, metro stations, and partner co-working hubs.</a:t>
            </a:r>
            <a:br/>
            <a:r>
              <a:t>• Scannable QR codes leading directly to free planner tools.</a:t>
            </a:r>
            <a:br/>
            <a:r>
              <a:t>• Cost-efficient print budget using reusable materials.</a:t>
            </a:r>
            <a:br/>
            <a:br/>
            <a:r>
              <a:t>Budget: AED 2,000 print deployment.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AMALIYA'S PART • TACTICS IN ACTION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PILLAR 3: CONNECT — FINTECHS &amp; ECOSYSTEM DEALS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FINTECH ALLIANCE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ZYWA APP &amp; PREPAID CARD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Collaboration with Zywa, the UAE youth money app.</a:t>
            </a:r>
            <a:br/>
            <a:r>
              <a:t>• Teaches real-time transaction tracking &amp; automated expense categorization.</a:t>
            </a:r>
            <a:br/>
            <a:r>
              <a:t>• Prepaid card model prevents overdraft and enforces disciplined spending habits.</a:t>
            </a:r>
            <a:br/>
            <a:r>
              <a:t>• Direct educational co-branding inside the app.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DISCOUNT PLATFORM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FAZAA NETWORK INTEGRATION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Direct partnership with Fazaa discount platform for eligible youth.</a:t>
            </a:r>
            <a:br/>
            <a:r>
              <a:t>• Verified discounts on daily essentials, supermarket groceries, and entertainment.</a:t>
            </a:r>
            <a:br/>
            <a:r>
              <a:t>• Transparent eligibility guidelines communicated upfront to build trust.</a:t>
            </a:r>
            <a:br/>
            <a:r>
              <a:t>• Unlocks AED 80–150 monthly per youth.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GOVERNMENT &amp; BANKING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</a:defRPr>
            </a:pPr>
            <a:r>
              <a:t>DLD &amp; BANKING ALLIANCES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Property portals: Integrating verified DLD rental calculator data into tenant workshops.</a:t>
            </a:r>
            <a:br/>
            <a:r>
              <a:t>• Commercial banks: Clear advice on no-fee savings accounts and avoiding credit card interest traps.</a:t>
            </a:r>
            <a:br/>
            <a:r>
              <a:t>• Credit Bureau: Teaching youth how to pull and read AECB credit reports annually.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AMALIYA'S PART • FINANCIAL ALLOCATION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12-MONTH FINANCIAL BUDGET: AED 50,000 ALLOCATION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621792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554480"/>
          <a:ext cx="58521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280160"/>
                <a:gridCol w="1280160"/>
              </a:tblGrid>
              <a:tr h="374072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Budget Allocation Item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AED Amount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</a:defRPr>
                      </a:pPr>
                      <a:r>
                        <a:t>% of Total</a:t>
                      </a:r>
                    </a:p>
                  </a:txBody>
                  <a:tcPr>
                    <a:solidFill>
                      <a:srgbClr val="0052FF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Social Media Advertising (IG/TikTok Paid)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10,000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20.0%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Educational Content Creation &amp; Video Prod.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9,000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18.0%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Six Interactive In-Person Workshops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9,000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18.0%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Campaign Webpage &amp; Digital Tools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6,000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12.0%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Research &amp; Evaluation (Baseline + Summative)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5,000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10.0%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Creator / Influencer Collaborations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4,000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8.0%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Contingency Fund (Agile reallocation)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3,000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6.0%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Printing &amp; Campus/Transit QR Posters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2,000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  <a:tr h="374072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Partner Coordination &amp; Administration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AED 2,000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CBD5E1"/>
                          </a:solidFill>
                        </a:defRPr>
                      </a:pPr>
                      <a:r>
                        <a:t>4.0%</a:t>
                      </a:r>
                    </a:p>
                  </a:txBody>
                  <a:tcPr>
                    <a:solidFill>
                      <a:srgbClr val="131D34"/>
                    </a:solidFill>
                  </a:tcPr>
                </a:tc>
              </a:tr>
              <a:tr h="374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Total Campaign Budget (12 Months)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AED 50,000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052FF"/>
                          </a:solidFill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0E152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132320" y="1371600"/>
            <a:ext cx="4327855" cy="466344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60920" y="1554480"/>
            <a:ext cx="38404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BUDGET EFFICIENCY PRINCIPLES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Free Partner Venues: University and incubator partnerships eliminate AED 15k+ in facility hire fees.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Volunteer Speakers: Sourcing certified financial planners and credit bureau analysts pro bono.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Partner Cross-Promotion: Utilizing partner newsletters (Zywa, universities) for zero-cost reach.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Reusable Digital Assets: Modular infographics and templates reused across digital channels.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Supplier Price Locks: Lock quotation rates before disbursement; monthly audits to prevent creep.</a:t>
            </a:r>
          </a:p>
          <a:p>
            <a:pPr>
              <a:spcBef>
                <a:spcPts val="600"/>
              </a:spcBef>
              <a:defRPr sz="1000">
                <a:solidFill>
                  <a:srgbClr val="FFFFFF"/>
                </a:solidFill>
              </a:defRPr>
            </a:pPr>
            <a:r>
              <a:t>✓  Agile Contingency: AED 3,000 buffer held for Month 6 reallocation toward highest-performing tactic.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AKBAR'S PART • SECTION 3: OBJECTIVES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THREE SMART OBJECTIVES: TARGETS &amp; BENCHMARKS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OBJECTIVE 1 • EDUCATE</a:t>
            </a:r>
          </a:p>
          <a:p>
            <a:pPr>
              <a:spcBef>
                <a:spcPts val="400"/>
              </a:spcBef>
              <a:defRPr sz="3600" b="1">
                <a:solidFill>
                  <a:srgbClr val="FFFFFF"/>
                </a:solidFill>
              </a:defRPr>
            </a:pPr>
            <a:r>
              <a:t>150K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Total Impressions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KPI Target: 4.0% Avg Engagement Rate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To increase awareness of financial literacy and YFWD support resources among Dubai residents aged 25–34 within 6 months of launch.</a:t>
            </a:r>
            <a:br/>
            <a:br/>
            <a:r>
              <a:t>Audit: Social analytics, video views, comments &amp; shares.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OBJECTIVE 2 • EQUIP</a:t>
            </a:r>
          </a:p>
          <a:p>
            <a:pPr>
              <a:spcBef>
                <a:spcPts val="400"/>
              </a:spcBef>
              <a:defRPr sz="3600" b="1">
                <a:solidFill>
                  <a:srgbClr val="FFFFFF"/>
                </a:solidFill>
              </a:defRPr>
            </a:pPr>
            <a:r>
              <a:t>5,000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Tool Downloads / Uses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KPI Target: 1,000 Challenge Participants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To drive proactive financial habit formation through digital adoption within 12 months.</a:t>
            </a:r>
            <a:br/>
            <a:br/>
            <a:r>
              <a:t>Audit: Google Analytics, QR telemetry, and completion forms.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52FF"/>
                </a:solidFill>
              </a:defRPr>
            </a:pPr>
            <a:r>
              <a:t>OBJECTIVE 3 • CONNECT</a:t>
            </a:r>
          </a:p>
          <a:p>
            <a:pPr>
              <a:spcBef>
                <a:spcPts val="400"/>
              </a:spcBef>
              <a:defRPr sz="3600" b="1">
                <a:solidFill>
                  <a:srgbClr val="FFFFFF"/>
                </a:solidFill>
              </a:defRPr>
            </a:pPr>
            <a:r>
              <a:t>300+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Workshop Attendees</a:t>
            </a:r>
          </a:p>
          <a:p>
            <a:pPr>
              <a:spcBef>
                <a:spcPts val="800"/>
              </a:spcBef>
              <a:defRPr sz="1100" b="1">
                <a:solidFill>
                  <a:srgbClr val="FFFFFF"/>
                </a:solidFill>
              </a:defRPr>
            </a:pPr>
            <a:r>
              <a:t>KPI Target: 4 Active Partnerships</a:t>
            </a:r>
          </a:p>
          <a:p>
            <a:pPr>
              <a:spcBef>
                <a:spcPts val="800"/>
              </a:spcBef>
              <a:defRPr sz="1050">
                <a:solidFill>
                  <a:srgbClr val="CBD5E1"/>
                </a:solidFill>
              </a:defRPr>
            </a:pPr>
            <a:r>
              <a:t>To build sustainable community and commercial connections for long-term impact within 12 months.</a:t>
            </a:r>
            <a:br/>
            <a:br/>
            <a:r>
              <a:t>Audit: Attendance registers, signed MOUs &amp; redeemed partner perks.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AKBAR'S PART • SECTION 10: EVALUATION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OUR JOURNEY TO IMPACT: 3-PHASE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MONTHS 1–2</a:t>
            </a:r>
          </a:p>
          <a:p>
            <a:pPr>
              <a:spcBef>
                <a:spcPts val="400"/>
              </a:spcBef>
              <a:defRPr sz="2800" b="1">
                <a:solidFill>
                  <a:srgbClr val="0052FF"/>
                </a:solidFill>
              </a:defRPr>
            </a:pPr>
            <a:r>
              <a:t>01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</a:defRPr>
            </a:pPr>
            <a:r>
              <a:t>FORMATIVE EVALUATION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Desktop Research &amp; Social Listening: Monitor hashtags &amp; online discussions around Dubai living costs and BNPL sentiment.</a:t>
            </a:r>
            <a:br/>
            <a:r>
              <a:t>• Pre-Campaign Digital Survey: Measure baseline awareness of YFWD, DLD rental index, and financial stress.</a:t>
            </a:r>
            <a:br/>
            <a:br/>
            <a:r>
              <a:t>Output: Validated baseline benchmark against which Year 1 delta is measured.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177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MONTHS 3–8</a:t>
            </a:r>
          </a:p>
          <a:p>
            <a:pPr>
              <a:spcBef>
                <a:spcPts val="400"/>
              </a:spcBef>
              <a:defRPr sz="2800" b="1">
                <a:solidFill>
                  <a:srgbClr val="0052FF"/>
                </a:solidFill>
              </a:defRPr>
            </a:pPr>
            <a:r>
              <a:t>02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</a:defRPr>
            </a:pPr>
            <a:r>
              <a:t>PROCESS EVALUATION &amp; AGILITY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Monthly Social Analytics: If engagement drops below 4%, immediately pivot formats toward high-performing Reels/creators.</a:t>
            </a:r>
            <a:br/>
            <a:r>
              <a:t>• Webpage Conversion Tracking: Monitor Google Analytics funnel and challenge completions.</a:t>
            </a:r>
            <a:br/>
            <a:r>
              <a:t>• Month 6 Agility Audit: Reallocate unused contingency (AED 3k) to top ROI channels.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401568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554480"/>
            <a:ext cx="2944368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MONTHS 10–12</a:t>
            </a:r>
          </a:p>
          <a:p>
            <a:pPr>
              <a:spcBef>
                <a:spcPts val="400"/>
              </a:spcBef>
              <a:defRPr sz="2800" b="1">
                <a:solidFill>
                  <a:srgbClr val="0052FF"/>
                </a:solidFill>
              </a:defRPr>
            </a:pPr>
            <a:r>
              <a:t>03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</a:defRPr>
            </a:pPr>
            <a:r>
              <a:t>SUMMATIVE EVALUATION &amp; ROI</a:t>
            </a:r>
          </a:p>
          <a:p>
            <a:pPr>
              <a:spcBef>
                <a:spcPts val="1000"/>
              </a:spcBef>
              <a:defRPr sz="1050">
                <a:solidFill>
                  <a:srgbClr val="CBD5E1"/>
                </a:solidFill>
              </a:defRPr>
            </a:pPr>
            <a:r>
              <a:t>• Month 12 Post-Campaign Survey: Measure shifts in financial literacy, self-reported monthly savings, and trust in YFWD.</a:t>
            </a:r>
            <a:br/>
            <a:r>
              <a:t>• SMART Objective Audit: Verify actuals against 150k impressions, 5k downloads, 1k participants, 4 partner contracts.</a:t>
            </a:r>
            <a:br/>
            <a:r>
              <a:t>• Final ROI Report: Reach per AED spent to advise government on long-term policy.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OPERATIONAL RESILIENCE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RISK MANAGEMENT &amp; CONTINGENCY PLAYBOOK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228600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RISK 1: SOCIAL ENGAGEMENT BELOW 4%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MEDIA RISK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Pivot video style from informational monologues to relatable day-in-the-life skits. Reallocate portion of AED 10k paid ad budget into A/B testing high-performing hooks.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5352" y="1371600"/>
            <a:ext cx="5212080" cy="228600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3952" y="15544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RISK 2: WORKSHOP ATTENDANCE DROP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EVENTS RISK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Incentivize attendance through certified CPD certificates and complimentary partner discount codes. Shift sessions to hybrid live-stream webinars.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3886200"/>
            <a:ext cx="5212080" cy="228600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069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RISK 3: PARTNER ONBOARDING DELAYS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ALLIANCE RISK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Prioritize fintechs with pre-existing open APIs (Zywa) and established institutional programs (Fazaa). Offer co-branded thought leadership as mutual value.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3886200"/>
            <a:ext cx="5212080" cy="228600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406908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RISK 4: UAE LICENSING COMPLIANCE</a:t>
            </a:r>
          </a:p>
          <a:p>
            <a:pPr>
              <a:spcBef>
                <a:spcPts val="200"/>
              </a:spcBef>
              <a:defRPr sz="950" b="1">
                <a:solidFill>
                  <a:srgbClr val="0052FF"/>
                </a:solidFill>
              </a:defRPr>
            </a:pPr>
            <a:r>
              <a:t>LEGAL RISK</a:t>
            </a:r>
          </a:p>
          <a:p>
            <a:pPr>
              <a:spcBef>
                <a:spcPts val="600"/>
              </a:spcBef>
              <a:defRPr sz="1000">
                <a:solidFill>
                  <a:srgbClr val="CBD5E1"/>
                </a:solidFill>
              </a:defRPr>
            </a:pPr>
            <a:r>
              <a:t>Strictly pre-vet all content and partner contracts in alignment with UAE National Media Council guidelines and licensed financial influencer rules.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052FF"/>
                </a:solidFill>
              </a:defRPr>
            </a:pPr>
            <a:r>
              <a:t>EXECUTION ROADMAP &amp; SIGN-OFF</a:t>
            </a:r>
          </a:p>
          <a:p>
            <a:pPr>
              <a:spcBef>
                <a:spcPts val="300"/>
              </a:spcBef>
              <a:defRPr sz="2200" b="1">
                <a:solidFill>
                  <a:srgbClr val="FFFFFF"/>
                </a:solidFill>
              </a:defRPr>
            </a:pPr>
            <a:r>
              <a:t>12-MONTH ROADMAP: DELIVERING LASTING PROSPERITY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Q1: MONTHS 1–3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FOUNDATION &amp; LAUNCH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• Baseline survey &amp; social listening</a:t>
            </a:r>
            <a:br/>
            <a:r>
              <a:t>• Launch web portal &amp; budget templates</a:t>
            </a:r>
            <a:br/>
            <a:r>
              <a:t>• Wave 1 TikTok/IG reels &amp; creator posts</a:t>
            </a:r>
            <a:br/>
            <a:r>
              <a:t>• Deliver Workshops 1 &amp; 2 (Universities)</a:t>
            </a:r>
          </a:p>
        </p:txBody>
      </p:sp>
      <p:sp>
        <p:nvSpPr>
          <p:cNvPr id="5" name="Rectangle 4"/>
          <p:cNvSpPr/>
          <p:nvPr/>
        </p:nvSpPr>
        <p:spPr>
          <a:xfrm>
            <a:off x="3465576" y="1371600"/>
            <a:ext cx="2514600" cy="4663440"/>
          </a:xfrm>
          <a:prstGeom prst="rect">
            <a:avLst/>
          </a:prstGeom>
          <a:solidFill>
            <a:srgbClr val="005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48456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Q2: MONTHS 4–6</a:t>
            </a:r>
          </a:p>
          <a:p>
            <a:pPr>
              <a:spcBef>
                <a:spcPts val="200"/>
              </a:spcBef>
              <a:defRPr sz="1000" b="1">
                <a:solidFill>
                  <a:srgbClr val="FFFFFF"/>
                </a:solidFill>
              </a:defRPr>
            </a:pPr>
            <a:r>
              <a:t>SCALE &amp; AGILITY REVIEW</a:t>
            </a:r>
          </a:p>
          <a:p>
            <a:pPr>
              <a:spcBef>
                <a:spcPts val="1200"/>
              </a:spcBef>
              <a:defRPr sz="1050">
                <a:solidFill>
                  <a:srgbClr val="FFFFFF"/>
                </a:solidFill>
              </a:defRPr>
            </a:pPr>
            <a:r>
              <a:t>• Launch '30-Day Budget Challenge'</a:t>
            </a:r>
            <a:br/>
            <a:r>
              <a:t>• Onboard Zywa &amp; Fazaa partnerships</a:t>
            </a:r>
            <a:br/>
            <a:r>
              <a:t>• Deliver Workshops 3 &amp; 4 (Employers)</a:t>
            </a:r>
            <a:br/>
            <a:r>
              <a:t>• Month 6 Review &amp; contingency reallocation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9632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Q3: MONTHS 7–9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ECOSYSTEM DEEPENING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• Deliver Workshops 5 &amp; 6 (Hubs)</a:t>
            </a:r>
            <a:br/>
            <a:r>
              <a:t>• High-impact creator collaborations</a:t>
            </a:r>
            <a:br/>
            <a:r>
              <a:t>• QR code poster refreshes across Metro</a:t>
            </a:r>
            <a:br/>
            <a:r>
              <a:t>• Mid-point survey pulse check</a:t>
            </a:r>
          </a:p>
        </p:txBody>
      </p:sp>
      <p:sp>
        <p:nvSpPr>
          <p:cNvPr id="9" name="Rectangle 8"/>
          <p:cNvSpPr/>
          <p:nvPr/>
        </p:nvSpPr>
        <p:spPr>
          <a:xfrm>
            <a:off x="8933688" y="1371600"/>
            <a:ext cx="2514600" cy="4663440"/>
          </a:xfrm>
          <a:prstGeom prst="rect">
            <a:avLst/>
          </a:prstGeom>
          <a:solidFill>
            <a:srgbClr val="0E1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16568" y="1554480"/>
            <a:ext cx="2148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FFFF"/>
                </a:solidFill>
              </a:defRPr>
            </a:pPr>
            <a:r>
              <a:t>Q4: MONTHS 10–12</a:t>
            </a:r>
          </a:p>
          <a:p>
            <a:pPr>
              <a:spcBef>
                <a:spcPts val="200"/>
              </a:spcBef>
              <a:defRPr sz="1000" b="1">
                <a:solidFill>
                  <a:srgbClr val="0052FF"/>
                </a:solidFill>
              </a:defRPr>
            </a:pPr>
            <a:r>
              <a:t>SUMMATIVE &amp; POLICY</a:t>
            </a:r>
          </a:p>
          <a:p>
            <a:pPr>
              <a:spcBef>
                <a:spcPts val="1200"/>
              </a:spcBef>
              <a:defRPr sz="1050">
                <a:solidFill>
                  <a:srgbClr val="CBD5E1"/>
                </a:solidFill>
              </a:defRPr>
            </a:pPr>
            <a:r>
              <a:t>• Month 12 summative evaluation survey</a:t>
            </a:r>
            <a:br/>
            <a:r>
              <a:t>• Audit performance vs 3 SMART targets</a:t>
            </a:r>
            <a:br/>
            <a:r>
              <a:t>• Compile final ROI executive report</a:t>
            </a:r>
            <a:br/>
            <a:r>
              <a:t>• Present permanent policy to YFWD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728655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YFWD DUBAI • COM345 STRATEGIC PLAN   |   SOURCE: DLD, VALUSTRAT, THE NATIONAL, GULF NEWS 2025–2026   |   PAGE 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